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Seven stages, twelve minutes. The full nineteen-step path and the complete hundred-feature inventory are in the product documentation.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Workstream: Home
The home screen. Do not open the template picker.
Work starts from one sentence. A template or a gallery agent is optional, not a prerequisite — nothing has to be configured before the first request.
Answers: What do I have to learn before this is useful?
Features: F01, F04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Workstream: DEMO — Panda Express Monthly Report
Top of the thread: the date-range query, then the agent’s response.
The agent establishes what data exists before answering, and states the limit in the thread. Asked for July, it reported the set ends 22 June and built June instead.
Answers: What happens when the data isn’t there?
Features: F10, F11, F15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Workstream: DEMO — Panda Express Monthly Report
The outline card. Edit a heading, exclude a finding, reorder two rows.
Structure is proposed and approved before anything renders. One control governs both cost and quality — a wrong shape is caught in seconds rather than after a full run.
Answers: How much control do I have over what it writes?
Features: F19, F20, F21, F22, F23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Workstream: DEMO — Panda Express Monthly Report
The report card: metadata, branded header, the export controls.
The output is a branded, sourced, shareable document. Branding is applied at render time from organisation settings, not baked into the report.
Answers: Is this something I can put in front of a client?
Features: F24, F25, F26, F28, F29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Workstream: DEMO — Panda Express Monthly Report
The deck outline card. The type tag on each row; the per-row layout dropdown.
Each slide’s type is declared before it is drawn, and can be overridden one row at a time without touching the rest of the deck.
Answers: Does it just produce generic slides?
Features: F30, F31, F32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Workstream: DEMO — Panda Express Monthly Report
Lock as default for all future presentations, then Approve format.
A corrected format becomes the standing default. The next run inherits it — no prompt is written and no model is trained.
Answers: Do I have to re-explain this every month?
Features: F36, F37, F38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Workstream: BigQuery Monthly Report
The Self-Healing tab: validation status, a browser test running, the escalated issues.
The platform drives its own workflows in a real browser, applies the fixes it can, and reports the ones it cannot as escalations with Retry, Flag and Skip.
Answers: What happens when it gets something wrong?
Features: F66, F67, F68, F69, F70, F77, F79, F80, F81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A0A"/>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2011680"/>
            <a:ext cx="1417320" cy="448056"/>
          </a:xfrm>
          <a:prstGeom prst="rect">
            <a:avLst/>
          </a:prstGeom>
        </p:spPr>
      </p:pic>
      <p:sp>
        <p:nvSpPr>
          <p:cNvPr id="3" name="Text 0"/>
          <p:cNvSpPr/>
          <p:nvPr/>
        </p:nvSpPr>
        <p:spPr>
          <a:xfrm>
            <a:off x="566928" y="2651760"/>
            <a:ext cx="11027664" cy="868680"/>
          </a:xfrm>
          <a:prstGeom prst="rect">
            <a:avLst/>
          </a:prstGeom>
          <a:noFill/>
          <a:ln/>
        </p:spPr>
        <p:txBody>
          <a:bodyPr wrap="square" lIns="0" tIns="0" rIns="0" bIns="0" rtlCol="0" anchor="t"/>
          <a:lstStyle/>
          <a:p>
            <a:pPr indent="0" marL="0">
              <a:buNone/>
            </a:pPr>
            <a:r>
              <a:rPr lang="en-US" sz="5200" b="1" dirty="0">
                <a:solidFill>
                  <a:srgbClr val="EDEAE3"/>
                </a:solidFill>
                <a:latin typeface="Arial" pitchFamily="34" charset="0"/>
                <a:ea typeface="Arial" pitchFamily="34" charset="-122"/>
                <a:cs typeface="Arial" pitchFamily="34" charset="-120"/>
              </a:rPr>
              <a:t>Demo cut</a:t>
            </a:r>
            <a:endParaRPr lang="en-US" sz="5200" dirty="0"/>
          </a:p>
        </p:txBody>
      </p:sp>
      <p:sp>
        <p:nvSpPr>
          <p:cNvPr id="4" name="Text 1"/>
          <p:cNvSpPr/>
          <p:nvPr/>
        </p:nvSpPr>
        <p:spPr>
          <a:xfrm>
            <a:off x="566928" y="3611880"/>
            <a:ext cx="8229600" cy="685800"/>
          </a:xfrm>
          <a:prstGeom prst="rect">
            <a:avLst/>
          </a:prstGeom>
          <a:noFill/>
          <a:ln/>
        </p:spPr>
        <p:txBody>
          <a:bodyPr wrap="square" lIns="0" tIns="0" rIns="0" bIns="0" rtlCol="0" anchor="t"/>
          <a:lstStyle/>
          <a:p>
            <a:pPr indent="0" marL="0">
              <a:lnSpc>
                <a:spcPts val="2200"/>
              </a:lnSpc>
              <a:buNone/>
            </a:pPr>
            <a:r>
              <a:rPr lang="en-US" sz="1400" dirty="0">
                <a:solidFill>
                  <a:srgbClr val="A8A39B"/>
                </a:solidFill>
                <a:latin typeface="Arial" pitchFamily="34" charset="0"/>
                <a:ea typeface="Arial" pitchFamily="34" charset="-122"/>
                <a:cs typeface="Arial" pitchFamily="34" charset="-120"/>
              </a:rPr>
              <a:t>Seven stages through the product in 12 minutes. One screen each, the point it makes,</a:t>
            </a:r>
            <a:endParaRPr lang="en-US" sz="1400" dirty="0"/>
          </a:p>
          <a:p>
            <a:pPr indent="0" marL="0">
              <a:lnSpc>
                <a:spcPts val="2200"/>
              </a:lnSpc>
              <a:buNone/>
            </a:pPr>
            <a:r>
              <a:rPr lang="en-US" sz="1400" dirty="0">
                <a:solidFill>
                  <a:srgbClr val="A8A39B"/>
                </a:solidFill>
                <a:latin typeface="Arial" pitchFamily="34" charset="0"/>
                <a:ea typeface="Arial" pitchFamily="34" charset="-122"/>
                <a:cs typeface="Arial" pitchFamily="34" charset="-120"/>
              </a:rPr>
              <a:t>and the question it answers.</a:t>
            </a:r>
            <a:endParaRPr lang="en-US" sz="1400" dirty="0"/>
          </a:p>
        </p:txBody>
      </p:sp>
      <p:sp>
        <p:nvSpPr>
          <p:cNvPr id="5" name="Shape 2"/>
          <p:cNvSpPr/>
          <p:nvPr/>
        </p:nvSpPr>
        <p:spPr>
          <a:xfrm>
            <a:off x="566928" y="4572000"/>
            <a:ext cx="2834640" cy="0"/>
          </a:xfrm>
          <a:prstGeom prst="line">
            <a:avLst/>
          </a:prstGeom>
          <a:noFill/>
          <a:ln w="12700">
            <a:solidFill>
              <a:srgbClr val="26262B"/>
            </a:solidFill>
            <a:prstDash val="solid"/>
          </a:ln>
        </p:spPr>
      </p:sp>
      <p:sp>
        <p:nvSpPr>
          <p:cNvPr id="6" name="Text 3"/>
          <p:cNvSpPr/>
          <p:nvPr/>
        </p:nvSpPr>
        <p:spPr>
          <a:xfrm>
            <a:off x="566928" y="4736592"/>
            <a:ext cx="8229600" cy="219456"/>
          </a:xfrm>
          <a:prstGeom prst="rect">
            <a:avLst/>
          </a:prstGeom>
          <a:noFill/>
          <a:ln/>
        </p:spPr>
        <p:txBody>
          <a:bodyPr wrap="square" lIns="0" tIns="0" rIns="0" bIns="0" rtlCol="0" anchor="t"/>
          <a:lstStyle/>
          <a:p>
            <a:pPr indent="0" marL="0">
              <a:buNone/>
            </a:pPr>
            <a:r>
              <a:rPr lang="en-US" sz="1150" b="1" dirty="0">
                <a:solidFill>
                  <a:srgbClr val="EDEAE3"/>
                </a:solidFill>
                <a:latin typeface="Arial" pitchFamily="34" charset="0"/>
                <a:ea typeface="Arial" pitchFamily="34" charset="-122"/>
                <a:cs typeface="Arial" pitchFamily="34" charset="-120"/>
              </a:rPr>
              <a:t>Abbreviated path from the product documentation, section 4</a:t>
            </a:r>
            <a:endParaRPr lang="en-US" sz="1150" dirty="0"/>
          </a:p>
        </p:txBody>
      </p:sp>
      <p:sp>
        <p:nvSpPr>
          <p:cNvPr id="7" name="Text 4"/>
          <p:cNvSpPr/>
          <p:nvPr/>
        </p:nvSpPr>
        <p:spPr>
          <a:xfrm>
            <a:off x="566928" y="4992624"/>
            <a:ext cx="8229600" cy="219456"/>
          </a:xfrm>
          <a:prstGeom prst="rect">
            <a:avLst/>
          </a:prstGeom>
          <a:noFill/>
          <a:ln/>
        </p:spPr>
        <p:txBody>
          <a:bodyPr wrap="square" lIns="0" tIns="0" rIns="0" bIns="0" rtlCol="0" anchor="t"/>
          <a:lstStyle/>
          <a:p>
            <a:pPr indent="0" marL="0">
              <a:buNone/>
            </a:pPr>
            <a:r>
              <a:rPr lang="en-US" sz="1100" dirty="0">
                <a:solidFill>
                  <a:srgbClr val="75706A"/>
                </a:solidFill>
                <a:latin typeface="Arial" pitchFamily="34" charset="0"/>
                <a:ea typeface="Arial" pitchFamily="34" charset="-122"/>
                <a:cs typeface="Arial" pitchFamily="34" charset="-120"/>
              </a:rPr>
              <a:t>Full path: 19 steps, 30 minutes  ·  100 features catalogued  ·  verified 17 Aug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0A0A"/>
        </a:solidFill>
      </p:bgPr>
    </p:bg>
    <p:spTree>
      <p:nvGrpSpPr>
        <p:cNvPr id="1" name=""/>
        <p:cNvGrpSpPr/>
        <p:nvPr/>
      </p:nvGrpSpPr>
      <p:grpSpPr>
        <a:xfrm>
          <a:off x="0" y="0"/>
          <a:ext cx="0" cy="0"/>
          <a:chOff x="0" y="0"/>
          <a:chExt cx="0" cy="0"/>
        </a:xfrm>
      </p:grpSpPr>
      <p:sp>
        <p:nvSpPr>
          <p:cNvPr id="2" name="Text 0"/>
          <p:cNvSpPr/>
          <p:nvPr/>
        </p:nvSpPr>
        <p:spPr>
          <a:xfrm>
            <a:off x="566928" y="365760"/>
            <a:ext cx="11027664" cy="182880"/>
          </a:xfrm>
          <a:prstGeom prst="rect">
            <a:avLst/>
          </a:prstGeom>
          <a:noFill/>
          <a:ln/>
        </p:spPr>
        <p:txBody>
          <a:bodyPr wrap="square" lIns="0" tIns="0" rIns="0" bIns="0" rtlCol="0" anchor="t"/>
          <a:lstStyle/>
          <a:p>
            <a:pPr indent="0" marL="0">
              <a:buNone/>
            </a:pPr>
            <a:r>
              <a:rPr lang="en-US" sz="1000" b="1" spc="220" kern="0" dirty="0">
                <a:solidFill>
                  <a:srgbClr val="CBB78A"/>
                </a:solidFill>
                <a:latin typeface="Arial" pitchFamily="34" charset="0"/>
                <a:ea typeface="Arial" pitchFamily="34" charset="-122"/>
                <a:cs typeface="Arial" pitchFamily="34" charset="-120"/>
              </a:rPr>
              <a:t>THE SHAPE OF IT</a:t>
            </a:r>
            <a:endParaRPr lang="en-US" sz="1000" dirty="0"/>
          </a:p>
        </p:txBody>
      </p:sp>
      <p:sp>
        <p:nvSpPr>
          <p:cNvPr id="3" name="Text 1"/>
          <p:cNvSpPr/>
          <p:nvPr/>
        </p:nvSpPr>
        <p:spPr>
          <a:xfrm>
            <a:off x="566928" y="585216"/>
            <a:ext cx="11027664" cy="457200"/>
          </a:xfrm>
          <a:prstGeom prst="rect">
            <a:avLst/>
          </a:prstGeom>
          <a:noFill/>
          <a:ln/>
        </p:spPr>
        <p:txBody>
          <a:bodyPr wrap="square" lIns="0" tIns="0" rIns="0" bIns="0" rtlCol="0" anchor="t"/>
          <a:lstStyle/>
          <a:p>
            <a:pPr indent="0" marL="0">
              <a:buNone/>
            </a:pPr>
            <a:r>
              <a:rPr lang="en-US" sz="2600" b="1" dirty="0">
                <a:solidFill>
                  <a:srgbClr val="EDEAE3"/>
                </a:solidFill>
                <a:latin typeface="Arial" pitchFamily="34" charset="0"/>
                <a:ea typeface="Arial" pitchFamily="34" charset="-122"/>
                <a:cs typeface="Arial" pitchFamily="34" charset="-120"/>
              </a:rPr>
              <a:t>Seven stages, left to right</a:t>
            </a:r>
            <a:endParaRPr lang="en-US" sz="2600" dirty="0"/>
          </a:p>
        </p:txBody>
      </p:sp>
      <p:sp>
        <p:nvSpPr>
          <p:cNvPr id="4" name="Text 2"/>
          <p:cNvSpPr/>
          <p:nvPr/>
        </p:nvSpPr>
        <p:spPr>
          <a:xfrm>
            <a:off x="566928" y="1097280"/>
            <a:ext cx="10661904" cy="292608"/>
          </a:xfrm>
          <a:prstGeom prst="rect">
            <a:avLst/>
          </a:prstGeom>
          <a:noFill/>
          <a:ln/>
        </p:spPr>
        <p:txBody>
          <a:bodyPr wrap="square" lIns="0" tIns="0" rIns="0" bIns="0" rtlCol="0" anchor="t"/>
          <a:lstStyle/>
          <a:p>
            <a:pPr indent="0" marL="0">
              <a:buNone/>
            </a:pPr>
            <a:r>
              <a:rPr lang="en-US" sz="1200" dirty="0">
                <a:solidFill>
                  <a:srgbClr val="A8A39B"/>
                </a:solidFill>
                <a:latin typeface="Arial" pitchFamily="34" charset="0"/>
                <a:ea typeface="Arial" pitchFamily="34" charset="-122"/>
                <a:cs typeface="Arial" pitchFamily="34" charset="-120"/>
              </a:rPr>
              <a:t>Each stage answers one question an early adopter will have.</a:t>
            </a:r>
            <a:endParaRPr lang="en-US" sz="1200" dirty="0"/>
          </a:p>
        </p:txBody>
      </p:sp>
      <p:sp>
        <p:nvSpPr>
          <p:cNvPr id="5" name="Shape 3"/>
          <p:cNvSpPr/>
          <p:nvPr/>
        </p:nvSpPr>
        <p:spPr>
          <a:xfrm>
            <a:off x="566928" y="1755648"/>
            <a:ext cx="1449977" cy="3529584"/>
          </a:xfrm>
          <a:prstGeom prst="roundRect">
            <a:avLst>
              <a:gd name="adj" fmla="val 3784"/>
            </a:avLst>
          </a:prstGeom>
          <a:solidFill>
            <a:srgbClr val="16161A"/>
          </a:solidFill>
          <a:ln w="9525">
            <a:solidFill>
              <a:srgbClr val="26262B"/>
            </a:solidFill>
            <a:prstDash val="solid"/>
          </a:ln>
        </p:spPr>
      </p:sp>
      <p:sp>
        <p:nvSpPr>
          <p:cNvPr id="6" name="Shape 4"/>
          <p:cNvSpPr/>
          <p:nvPr/>
        </p:nvSpPr>
        <p:spPr>
          <a:xfrm>
            <a:off x="749808" y="1956816"/>
            <a:ext cx="274320" cy="274320"/>
          </a:xfrm>
          <a:prstGeom prst="ellipse">
            <a:avLst/>
          </a:prstGeom>
          <a:solidFill>
            <a:srgbClr val="1C1913"/>
          </a:solidFill>
          <a:ln w="9525">
            <a:solidFill>
              <a:srgbClr val="4A422F"/>
            </a:solidFill>
            <a:prstDash val="solid"/>
          </a:ln>
        </p:spPr>
      </p:sp>
      <p:sp>
        <p:nvSpPr>
          <p:cNvPr id="7" name="Text 5"/>
          <p:cNvSpPr/>
          <p:nvPr/>
        </p:nvSpPr>
        <p:spPr>
          <a:xfrm>
            <a:off x="749808" y="1997964"/>
            <a:ext cx="274320" cy="201168"/>
          </a:xfrm>
          <a:prstGeom prst="rect">
            <a:avLst/>
          </a:prstGeom>
          <a:noFill/>
          <a:ln/>
        </p:spPr>
        <p:txBody>
          <a:bodyPr wrap="square" lIns="0" tIns="0" rIns="0" bIns="0" rtlCol="0" anchor="t"/>
          <a:lstStyle/>
          <a:p>
            <a:pPr algn="ctr" indent="0" marL="0">
              <a:buNone/>
            </a:pPr>
            <a:r>
              <a:rPr lang="en-US" sz="1100" b="1" dirty="0">
                <a:solidFill>
                  <a:srgbClr val="CBB78A"/>
                </a:solidFill>
                <a:latin typeface="Arial" pitchFamily="34" charset="0"/>
                <a:ea typeface="Arial" pitchFamily="34" charset="-122"/>
                <a:cs typeface="Arial" pitchFamily="34" charset="-120"/>
              </a:rPr>
              <a:t>1</a:t>
            </a:r>
            <a:endParaRPr lang="en-US" sz="1100" dirty="0"/>
          </a:p>
        </p:txBody>
      </p:sp>
      <p:sp>
        <p:nvSpPr>
          <p:cNvPr id="8" name="Text 6"/>
          <p:cNvSpPr/>
          <p:nvPr/>
        </p:nvSpPr>
        <p:spPr>
          <a:xfrm>
            <a:off x="1193945" y="2011680"/>
            <a:ext cx="640080" cy="182880"/>
          </a:xfrm>
          <a:prstGeom prst="rect">
            <a:avLst/>
          </a:prstGeom>
          <a:noFill/>
          <a:ln/>
        </p:spPr>
        <p:txBody>
          <a:bodyPr wrap="square" lIns="0" tIns="0" rIns="0" bIns="0" rtlCol="0" anchor="t"/>
          <a:lstStyle/>
          <a:p>
            <a:pPr algn="r" indent="0" marL="0">
              <a:buNone/>
            </a:pPr>
            <a:r>
              <a:rPr lang="en-US" sz="850" b="1" dirty="0">
                <a:solidFill>
                  <a:srgbClr val="CBB78A"/>
                </a:solidFill>
                <a:latin typeface="Arial" pitchFamily="34" charset="0"/>
                <a:ea typeface="Arial" pitchFamily="34" charset="-122"/>
                <a:cs typeface="Arial" pitchFamily="34" charset="-120"/>
              </a:rPr>
              <a:t>1 MIN</a:t>
            </a:r>
            <a:endParaRPr lang="en-US" sz="850" dirty="0"/>
          </a:p>
        </p:txBody>
      </p:sp>
      <p:sp>
        <p:nvSpPr>
          <p:cNvPr id="9" name="Text 7"/>
          <p:cNvSpPr/>
          <p:nvPr/>
        </p:nvSpPr>
        <p:spPr>
          <a:xfrm>
            <a:off x="749808" y="2395728"/>
            <a:ext cx="1084217" cy="219456"/>
          </a:xfrm>
          <a:prstGeom prst="rect">
            <a:avLst/>
          </a:prstGeom>
          <a:noFill/>
          <a:ln/>
        </p:spPr>
        <p:txBody>
          <a:bodyPr wrap="square" lIns="0" tIns="0" rIns="0" bIns="0" rtlCol="0" anchor="t"/>
          <a:lstStyle/>
          <a:p>
            <a:pPr indent="0" marL="0">
              <a:buNone/>
            </a:pPr>
            <a:r>
              <a:rPr lang="en-US" sz="1000" b="1" spc="120" kern="0" dirty="0">
                <a:solidFill>
                  <a:srgbClr val="CBB78A"/>
                </a:solidFill>
                <a:latin typeface="Arial" pitchFamily="34" charset="0"/>
                <a:ea typeface="Arial" pitchFamily="34" charset="-122"/>
                <a:cs typeface="Arial" pitchFamily="34" charset="-120"/>
              </a:rPr>
              <a:t>Ask</a:t>
            </a:r>
            <a:endParaRPr lang="en-US" sz="1000" dirty="0"/>
          </a:p>
        </p:txBody>
      </p:sp>
      <p:sp>
        <p:nvSpPr>
          <p:cNvPr id="10" name="Text 8"/>
          <p:cNvSpPr/>
          <p:nvPr/>
        </p:nvSpPr>
        <p:spPr>
          <a:xfrm>
            <a:off x="749808" y="2670048"/>
            <a:ext cx="1084217" cy="822960"/>
          </a:xfrm>
          <a:prstGeom prst="rect">
            <a:avLst/>
          </a:prstGeom>
          <a:noFill/>
          <a:ln/>
        </p:spPr>
        <p:txBody>
          <a:bodyPr wrap="square" lIns="0" tIns="0" rIns="0" bIns="0" rtlCol="0" anchor="t"/>
          <a:lstStyle/>
          <a:p>
            <a:pPr indent="0" marL="0">
              <a:lnSpc>
                <a:spcPts val="1700"/>
              </a:lnSpc>
              <a:buNone/>
            </a:pPr>
            <a:r>
              <a:rPr lang="en-US" sz="1300" b="1" dirty="0">
                <a:solidFill>
                  <a:srgbClr val="EDEAE3"/>
                </a:solidFill>
                <a:latin typeface="Arial" pitchFamily="34" charset="0"/>
                <a:ea typeface="Arial" pitchFamily="34" charset="-122"/>
                <a:cs typeface="Arial" pitchFamily="34" charset="-120"/>
              </a:rPr>
              <a:t>Open on the ask</a:t>
            </a:r>
            <a:endParaRPr lang="en-US" sz="1300" dirty="0"/>
          </a:p>
        </p:txBody>
      </p:sp>
      <p:sp>
        <p:nvSpPr>
          <p:cNvPr id="11" name="Text 9"/>
          <p:cNvSpPr/>
          <p:nvPr/>
        </p:nvSpPr>
        <p:spPr>
          <a:xfrm>
            <a:off x="749808" y="3529584"/>
            <a:ext cx="1084217" cy="201168"/>
          </a:xfrm>
          <a:prstGeom prst="rect">
            <a:avLst/>
          </a:prstGeom>
          <a:noFill/>
          <a:ln/>
        </p:spPr>
        <p:txBody>
          <a:bodyPr wrap="square" lIns="0" tIns="0" rIns="0" bIns="0" rtlCol="0" anchor="t"/>
          <a:lstStyle/>
          <a:p>
            <a:pPr indent="0" marL="0">
              <a:buNone/>
            </a:pPr>
            <a:r>
              <a:rPr lang="en-US" sz="850" dirty="0">
                <a:solidFill>
                  <a:srgbClr val="75706A"/>
                </a:solidFill>
                <a:latin typeface="Arial" pitchFamily="34" charset="0"/>
                <a:ea typeface="Arial" pitchFamily="34" charset="-122"/>
                <a:cs typeface="Arial" pitchFamily="34" charset="-120"/>
              </a:rPr>
              <a:t>Home</a:t>
            </a:r>
            <a:endParaRPr lang="en-US" sz="850" dirty="0"/>
          </a:p>
        </p:txBody>
      </p:sp>
      <p:sp>
        <p:nvSpPr>
          <p:cNvPr id="12" name="Text 10"/>
          <p:cNvSpPr/>
          <p:nvPr/>
        </p:nvSpPr>
        <p:spPr>
          <a:xfrm>
            <a:off x="749808" y="3767328"/>
            <a:ext cx="1084217" cy="932688"/>
          </a:xfrm>
          <a:prstGeom prst="rect">
            <a:avLst/>
          </a:prstGeom>
          <a:noFill/>
          <a:ln/>
        </p:spPr>
        <p:txBody>
          <a:bodyPr wrap="square" lIns="0" tIns="0" rIns="0" bIns="0" rtlCol="0" anchor="t"/>
          <a:lstStyle/>
          <a:p>
            <a:pPr indent="0" marL="0">
              <a:lnSpc>
                <a:spcPts val="1400"/>
              </a:lnSpc>
              <a:buNone/>
            </a:pPr>
            <a:r>
              <a:rPr lang="en-US" sz="1000" i="1" dirty="0">
                <a:solidFill>
                  <a:srgbClr val="A8A39B"/>
                </a:solidFill>
                <a:latin typeface="Arial" pitchFamily="34" charset="0"/>
                <a:ea typeface="Arial" pitchFamily="34" charset="-122"/>
                <a:cs typeface="Arial" pitchFamily="34" charset="-120"/>
              </a:rPr>
              <a:t>What do I have to learn before this is useful?</a:t>
            </a:r>
            <a:endParaRPr lang="en-US" sz="1000" dirty="0"/>
          </a:p>
        </p:txBody>
      </p:sp>
      <p:sp>
        <p:nvSpPr>
          <p:cNvPr id="13" name="Text 11"/>
          <p:cNvSpPr/>
          <p:nvPr/>
        </p:nvSpPr>
        <p:spPr>
          <a:xfrm>
            <a:off x="749808" y="4754880"/>
            <a:ext cx="1084217" cy="475488"/>
          </a:xfrm>
          <a:prstGeom prst="rect">
            <a:avLst/>
          </a:prstGeom>
          <a:noFill/>
          <a:ln/>
        </p:spPr>
        <p:txBody>
          <a:bodyPr wrap="square" lIns="0" tIns="0" rIns="0" bIns="0" rtlCol="0" anchor="t"/>
          <a:lstStyle/>
          <a:p>
            <a:pPr indent="0" marL="0">
              <a:buNone/>
            </a:pPr>
            <a:r>
              <a:rPr lang="en-US" sz="800" dirty="0">
                <a:solidFill>
                  <a:srgbClr val="75706A"/>
                </a:solidFill>
                <a:latin typeface="Arial" pitchFamily="34" charset="0"/>
                <a:ea typeface="Arial" pitchFamily="34" charset="-122"/>
                <a:cs typeface="Arial" pitchFamily="34" charset="-120"/>
              </a:rPr>
              <a:t>F01  F04</a:t>
            </a:r>
            <a:endParaRPr lang="en-US" sz="800" dirty="0"/>
          </a:p>
        </p:txBody>
      </p:sp>
      <p:sp>
        <p:nvSpPr>
          <p:cNvPr id="14" name="Shape 12"/>
          <p:cNvSpPr/>
          <p:nvPr/>
        </p:nvSpPr>
        <p:spPr>
          <a:xfrm>
            <a:off x="2163209" y="1755648"/>
            <a:ext cx="1449977" cy="3529584"/>
          </a:xfrm>
          <a:prstGeom prst="roundRect">
            <a:avLst>
              <a:gd name="adj" fmla="val 3784"/>
            </a:avLst>
          </a:prstGeom>
          <a:solidFill>
            <a:srgbClr val="16161A"/>
          </a:solidFill>
          <a:ln w="9525">
            <a:solidFill>
              <a:srgbClr val="26262B"/>
            </a:solidFill>
            <a:prstDash val="solid"/>
          </a:ln>
        </p:spPr>
      </p:sp>
      <p:sp>
        <p:nvSpPr>
          <p:cNvPr id="15" name="Shape 13"/>
          <p:cNvSpPr/>
          <p:nvPr/>
        </p:nvSpPr>
        <p:spPr>
          <a:xfrm>
            <a:off x="2346089" y="1956816"/>
            <a:ext cx="274320" cy="274320"/>
          </a:xfrm>
          <a:prstGeom prst="ellipse">
            <a:avLst/>
          </a:prstGeom>
          <a:solidFill>
            <a:srgbClr val="1C1913"/>
          </a:solidFill>
          <a:ln w="9525">
            <a:solidFill>
              <a:srgbClr val="4A422F"/>
            </a:solidFill>
            <a:prstDash val="solid"/>
          </a:ln>
        </p:spPr>
      </p:sp>
      <p:sp>
        <p:nvSpPr>
          <p:cNvPr id="16" name="Text 14"/>
          <p:cNvSpPr/>
          <p:nvPr/>
        </p:nvSpPr>
        <p:spPr>
          <a:xfrm>
            <a:off x="2346089" y="1997964"/>
            <a:ext cx="274320" cy="201168"/>
          </a:xfrm>
          <a:prstGeom prst="rect">
            <a:avLst/>
          </a:prstGeom>
          <a:noFill/>
          <a:ln/>
        </p:spPr>
        <p:txBody>
          <a:bodyPr wrap="square" lIns="0" tIns="0" rIns="0" bIns="0" rtlCol="0" anchor="t"/>
          <a:lstStyle/>
          <a:p>
            <a:pPr algn="ctr" indent="0" marL="0">
              <a:buNone/>
            </a:pPr>
            <a:r>
              <a:rPr lang="en-US" sz="1100" b="1" dirty="0">
                <a:solidFill>
                  <a:srgbClr val="CBB78A"/>
                </a:solidFill>
                <a:latin typeface="Arial" pitchFamily="34" charset="0"/>
                <a:ea typeface="Arial" pitchFamily="34" charset="-122"/>
                <a:cs typeface="Arial" pitchFamily="34" charset="-120"/>
              </a:rPr>
              <a:t>2</a:t>
            </a:r>
            <a:endParaRPr lang="en-US" sz="1100" dirty="0"/>
          </a:p>
        </p:txBody>
      </p:sp>
      <p:sp>
        <p:nvSpPr>
          <p:cNvPr id="17" name="Text 15"/>
          <p:cNvSpPr/>
          <p:nvPr/>
        </p:nvSpPr>
        <p:spPr>
          <a:xfrm>
            <a:off x="2790226" y="2011680"/>
            <a:ext cx="640080" cy="182880"/>
          </a:xfrm>
          <a:prstGeom prst="rect">
            <a:avLst/>
          </a:prstGeom>
          <a:noFill/>
          <a:ln/>
        </p:spPr>
        <p:txBody>
          <a:bodyPr wrap="square" lIns="0" tIns="0" rIns="0" bIns="0" rtlCol="0" anchor="t"/>
          <a:lstStyle/>
          <a:p>
            <a:pPr algn="r" indent="0" marL="0">
              <a:buNone/>
            </a:pPr>
            <a:r>
              <a:rPr lang="en-US" sz="850" b="1" dirty="0">
                <a:solidFill>
                  <a:srgbClr val="CBB78A"/>
                </a:solidFill>
                <a:latin typeface="Arial" pitchFamily="34" charset="0"/>
                <a:ea typeface="Arial" pitchFamily="34" charset="-122"/>
                <a:cs typeface="Arial" pitchFamily="34" charset="-120"/>
              </a:rPr>
              <a:t>2 MIN</a:t>
            </a:r>
            <a:endParaRPr lang="en-US" sz="850" dirty="0"/>
          </a:p>
        </p:txBody>
      </p:sp>
      <p:sp>
        <p:nvSpPr>
          <p:cNvPr id="18" name="Text 16"/>
          <p:cNvSpPr/>
          <p:nvPr/>
        </p:nvSpPr>
        <p:spPr>
          <a:xfrm>
            <a:off x="2346089" y="2395728"/>
            <a:ext cx="1084217" cy="219456"/>
          </a:xfrm>
          <a:prstGeom prst="rect">
            <a:avLst/>
          </a:prstGeom>
          <a:noFill/>
          <a:ln/>
        </p:spPr>
        <p:txBody>
          <a:bodyPr wrap="square" lIns="0" tIns="0" rIns="0" bIns="0" rtlCol="0" anchor="t"/>
          <a:lstStyle/>
          <a:p>
            <a:pPr indent="0" marL="0">
              <a:buNone/>
            </a:pPr>
            <a:r>
              <a:rPr lang="en-US" sz="1000" b="1" spc="120" kern="0" dirty="0">
                <a:solidFill>
                  <a:srgbClr val="CBB78A"/>
                </a:solidFill>
                <a:latin typeface="Arial" pitchFamily="34" charset="0"/>
                <a:ea typeface="Arial" pitchFamily="34" charset="-122"/>
                <a:cs typeface="Arial" pitchFamily="34" charset="-120"/>
              </a:rPr>
              <a:t>Check</a:t>
            </a:r>
            <a:endParaRPr lang="en-US" sz="1000" dirty="0"/>
          </a:p>
        </p:txBody>
      </p:sp>
      <p:sp>
        <p:nvSpPr>
          <p:cNvPr id="19" name="Text 17"/>
          <p:cNvSpPr/>
          <p:nvPr/>
        </p:nvSpPr>
        <p:spPr>
          <a:xfrm>
            <a:off x="2346089" y="2670048"/>
            <a:ext cx="1084217" cy="822960"/>
          </a:xfrm>
          <a:prstGeom prst="rect">
            <a:avLst/>
          </a:prstGeom>
          <a:noFill/>
          <a:ln/>
        </p:spPr>
        <p:txBody>
          <a:bodyPr wrap="square" lIns="0" tIns="0" rIns="0" bIns="0" rtlCol="0" anchor="t"/>
          <a:lstStyle/>
          <a:p>
            <a:pPr indent="0" marL="0">
              <a:lnSpc>
                <a:spcPts val="1700"/>
              </a:lnSpc>
              <a:buNone/>
            </a:pPr>
            <a:r>
              <a:rPr lang="en-US" sz="1300" b="1" dirty="0">
                <a:solidFill>
                  <a:srgbClr val="EDEAE3"/>
                </a:solidFill>
                <a:latin typeface="Arial" pitchFamily="34" charset="0"/>
                <a:ea typeface="Arial" pitchFamily="34" charset="-122"/>
                <a:cs typeface="Arial" pitchFamily="34" charset="-120"/>
              </a:rPr>
              <a:t>It checks the data first</a:t>
            </a:r>
            <a:endParaRPr lang="en-US" sz="1300" dirty="0"/>
          </a:p>
        </p:txBody>
      </p:sp>
      <p:sp>
        <p:nvSpPr>
          <p:cNvPr id="20" name="Text 18"/>
          <p:cNvSpPr/>
          <p:nvPr/>
        </p:nvSpPr>
        <p:spPr>
          <a:xfrm>
            <a:off x="2346089" y="3529584"/>
            <a:ext cx="1084217" cy="201168"/>
          </a:xfrm>
          <a:prstGeom prst="rect">
            <a:avLst/>
          </a:prstGeom>
          <a:noFill/>
          <a:ln/>
        </p:spPr>
        <p:txBody>
          <a:bodyPr wrap="square" lIns="0" tIns="0" rIns="0" bIns="0" rtlCol="0" anchor="t"/>
          <a:lstStyle/>
          <a:p>
            <a:pPr indent="0" marL="0">
              <a:buNone/>
            </a:pPr>
            <a:r>
              <a:rPr lang="en-US" sz="850" dirty="0">
                <a:solidFill>
                  <a:srgbClr val="75706A"/>
                </a:solidFill>
                <a:latin typeface="Arial" pitchFamily="34" charset="0"/>
                <a:ea typeface="Arial" pitchFamily="34" charset="-122"/>
                <a:cs typeface="Arial" pitchFamily="34" charset="-120"/>
              </a:rPr>
              <a:t>DEMO workstream</a:t>
            </a:r>
            <a:endParaRPr lang="en-US" sz="850" dirty="0"/>
          </a:p>
        </p:txBody>
      </p:sp>
      <p:sp>
        <p:nvSpPr>
          <p:cNvPr id="21" name="Text 19"/>
          <p:cNvSpPr/>
          <p:nvPr/>
        </p:nvSpPr>
        <p:spPr>
          <a:xfrm>
            <a:off x="2346089" y="3767328"/>
            <a:ext cx="1084217" cy="932688"/>
          </a:xfrm>
          <a:prstGeom prst="rect">
            <a:avLst/>
          </a:prstGeom>
          <a:noFill/>
          <a:ln/>
        </p:spPr>
        <p:txBody>
          <a:bodyPr wrap="square" lIns="0" tIns="0" rIns="0" bIns="0" rtlCol="0" anchor="t"/>
          <a:lstStyle/>
          <a:p>
            <a:pPr indent="0" marL="0">
              <a:lnSpc>
                <a:spcPts val="1400"/>
              </a:lnSpc>
              <a:buNone/>
            </a:pPr>
            <a:r>
              <a:rPr lang="en-US" sz="1000" i="1" dirty="0">
                <a:solidFill>
                  <a:srgbClr val="A8A39B"/>
                </a:solidFill>
                <a:latin typeface="Arial" pitchFamily="34" charset="0"/>
                <a:ea typeface="Arial" pitchFamily="34" charset="-122"/>
                <a:cs typeface="Arial" pitchFamily="34" charset="-120"/>
              </a:rPr>
              <a:t>What happens when the data isn’t there?</a:t>
            </a:r>
            <a:endParaRPr lang="en-US" sz="1000" dirty="0"/>
          </a:p>
        </p:txBody>
      </p:sp>
      <p:sp>
        <p:nvSpPr>
          <p:cNvPr id="22" name="Text 20"/>
          <p:cNvSpPr/>
          <p:nvPr/>
        </p:nvSpPr>
        <p:spPr>
          <a:xfrm>
            <a:off x="2346089" y="4754880"/>
            <a:ext cx="1084217" cy="475488"/>
          </a:xfrm>
          <a:prstGeom prst="rect">
            <a:avLst/>
          </a:prstGeom>
          <a:noFill/>
          <a:ln/>
        </p:spPr>
        <p:txBody>
          <a:bodyPr wrap="square" lIns="0" tIns="0" rIns="0" bIns="0" rtlCol="0" anchor="t"/>
          <a:lstStyle/>
          <a:p>
            <a:pPr indent="0" marL="0">
              <a:buNone/>
            </a:pPr>
            <a:r>
              <a:rPr lang="en-US" sz="800" dirty="0">
                <a:solidFill>
                  <a:srgbClr val="75706A"/>
                </a:solidFill>
                <a:latin typeface="Arial" pitchFamily="34" charset="0"/>
                <a:ea typeface="Arial" pitchFamily="34" charset="-122"/>
                <a:cs typeface="Arial" pitchFamily="34" charset="-120"/>
              </a:rPr>
              <a:t>F10  F11  F15</a:t>
            </a:r>
            <a:endParaRPr lang="en-US" sz="800" dirty="0"/>
          </a:p>
        </p:txBody>
      </p:sp>
      <p:sp>
        <p:nvSpPr>
          <p:cNvPr id="23" name="Shape 21"/>
          <p:cNvSpPr/>
          <p:nvPr/>
        </p:nvSpPr>
        <p:spPr>
          <a:xfrm>
            <a:off x="3759490" y="1755648"/>
            <a:ext cx="1449977" cy="3529584"/>
          </a:xfrm>
          <a:prstGeom prst="roundRect">
            <a:avLst>
              <a:gd name="adj" fmla="val 3784"/>
            </a:avLst>
          </a:prstGeom>
          <a:solidFill>
            <a:srgbClr val="16161A"/>
          </a:solidFill>
          <a:ln w="9525">
            <a:solidFill>
              <a:srgbClr val="26262B"/>
            </a:solidFill>
            <a:prstDash val="solid"/>
          </a:ln>
        </p:spPr>
      </p:sp>
      <p:sp>
        <p:nvSpPr>
          <p:cNvPr id="24" name="Shape 22"/>
          <p:cNvSpPr/>
          <p:nvPr/>
        </p:nvSpPr>
        <p:spPr>
          <a:xfrm>
            <a:off x="3942370" y="1956816"/>
            <a:ext cx="274320" cy="274320"/>
          </a:xfrm>
          <a:prstGeom prst="ellipse">
            <a:avLst/>
          </a:prstGeom>
          <a:solidFill>
            <a:srgbClr val="1C1913"/>
          </a:solidFill>
          <a:ln w="9525">
            <a:solidFill>
              <a:srgbClr val="4A422F"/>
            </a:solidFill>
            <a:prstDash val="solid"/>
          </a:ln>
        </p:spPr>
      </p:sp>
      <p:sp>
        <p:nvSpPr>
          <p:cNvPr id="25" name="Text 23"/>
          <p:cNvSpPr/>
          <p:nvPr/>
        </p:nvSpPr>
        <p:spPr>
          <a:xfrm>
            <a:off x="3942370" y="1997964"/>
            <a:ext cx="274320" cy="201168"/>
          </a:xfrm>
          <a:prstGeom prst="rect">
            <a:avLst/>
          </a:prstGeom>
          <a:noFill/>
          <a:ln/>
        </p:spPr>
        <p:txBody>
          <a:bodyPr wrap="square" lIns="0" tIns="0" rIns="0" bIns="0" rtlCol="0" anchor="t"/>
          <a:lstStyle/>
          <a:p>
            <a:pPr algn="ctr" indent="0" marL="0">
              <a:buNone/>
            </a:pPr>
            <a:r>
              <a:rPr lang="en-US" sz="1100" b="1" dirty="0">
                <a:solidFill>
                  <a:srgbClr val="CBB78A"/>
                </a:solidFill>
                <a:latin typeface="Arial" pitchFamily="34" charset="0"/>
                <a:ea typeface="Arial" pitchFamily="34" charset="-122"/>
                <a:cs typeface="Arial" pitchFamily="34" charset="-120"/>
              </a:rPr>
              <a:t>3</a:t>
            </a:r>
            <a:endParaRPr lang="en-US" sz="1100" dirty="0"/>
          </a:p>
        </p:txBody>
      </p:sp>
      <p:sp>
        <p:nvSpPr>
          <p:cNvPr id="26" name="Text 24"/>
          <p:cNvSpPr/>
          <p:nvPr/>
        </p:nvSpPr>
        <p:spPr>
          <a:xfrm>
            <a:off x="4386507" y="2011680"/>
            <a:ext cx="640080" cy="182880"/>
          </a:xfrm>
          <a:prstGeom prst="rect">
            <a:avLst/>
          </a:prstGeom>
          <a:noFill/>
          <a:ln/>
        </p:spPr>
        <p:txBody>
          <a:bodyPr wrap="square" lIns="0" tIns="0" rIns="0" bIns="0" rtlCol="0" anchor="t"/>
          <a:lstStyle/>
          <a:p>
            <a:pPr algn="r" indent="0" marL="0">
              <a:buNone/>
            </a:pPr>
            <a:r>
              <a:rPr lang="en-US" sz="850" b="1" dirty="0">
                <a:solidFill>
                  <a:srgbClr val="CBB78A"/>
                </a:solidFill>
                <a:latin typeface="Arial" pitchFamily="34" charset="0"/>
                <a:ea typeface="Arial" pitchFamily="34" charset="-122"/>
                <a:cs typeface="Arial" pitchFamily="34" charset="-120"/>
              </a:rPr>
              <a:t>2 MIN</a:t>
            </a:r>
            <a:endParaRPr lang="en-US" sz="850" dirty="0"/>
          </a:p>
        </p:txBody>
      </p:sp>
      <p:sp>
        <p:nvSpPr>
          <p:cNvPr id="27" name="Text 25"/>
          <p:cNvSpPr/>
          <p:nvPr/>
        </p:nvSpPr>
        <p:spPr>
          <a:xfrm>
            <a:off x="3942370" y="2395728"/>
            <a:ext cx="1084217" cy="219456"/>
          </a:xfrm>
          <a:prstGeom prst="rect">
            <a:avLst/>
          </a:prstGeom>
          <a:noFill/>
          <a:ln/>
        </p:spPr>
        <p:txBody>
          <a:bodyPr wrap="square" lIns="0" tIns="0" rIns="0" bIns="0" rtlCol="0" anchor="t"/>
          <a:lstStyle/>
          <a:p>
            <a:pPr indent="0" marL="0">
              <a:buNone/>
            </a:pPr>
            <a:r>
              <a:rPr lang="en-US" sz="1000" b="1" spc="120" kern="0" dirty="0">
                <a:solidFill>
                  <a:srgbClr val="CBB78A"/>
                </a:solidFill>
                <a:latin typeface="Arial" pitchFamily="34" charset="0"/>
                <a:ea typeface="Arial" pitchFamily="34" charset="-122"/>
                <a:cs typeface="Arial" pitchFamily="34" charset="-120"/>
              </a:rPr>
              <a:t>Approve</a:t>
            </a:r>
            <a:endParaRPr lang="en-US" sz="1000" dirty="0"/>
          </a:p>
        </p:txBody>
      </p:sp>
      <p:sp>
        <p:nvSpPr>
          <p:cNvPr id="28" name="Text 26"/>
          <p:cNvSpPr/>
          <p:nvPr/>
        </p:nvSpPr>
        <p:spPr>
          <a:xfrm>
            <a:off x="3942370" y="2670048"/>
            <a:ext cx="1084217" cy="822960"/>
          </a:xfrm>
          <a:prstGeom prst="rect">
            <a:avLst/>
          </a:prstGeom>
          <a:noFill/>
          <a:ln/>
        </p:spPr>
        <p:txBody>
          <a:bodyPr wrap="square" lIns="0" tIns="0" rIns="0" bIns="0" rtlCol="0" anchor="t"/>
          <a:lstStyle/>
          <a:p>
            <a:pPr indent="0" marL="0">
              <a:lnSpc>
                <a:spcPts val="1700"/>
              </a:lnSpc>
              <a:buNone/>
            </a:pPr>
            <a:r>
              <a:rPr lang="en-US" sz="1300" b="1" dirty="0">
                <a:solidFill>
                  <a:srgbClr val="EDEAE3"/>
                </a:solidFill>
                <a:latin typeface="Arial" pitchFamily="34" charset="0"/>
                <a:ea typeface="Arial" pitchFamily="34" charset="-122"/>
                <a:cs typeface="Arial" pitchFamily="34" charset="-120"/>
              </a:rPr>
              <a:t>Approve the structure</a:t>
            </a:r>
            <a:endParaRPr lang="en-US" sz="1300" dirty="0"/>
          </a:p>
        </p:txBody>
      </p:sp>
      <p:sp>
        <p:nvSpPr>
          <p:cNvPr id="29" name="Text 27"/>
          <p:cNvSpPr/>
          <p:nvPr/>
        </p:nvSpPr>
        <p:spPr>
          <a:xfrm>
            <a:off x="3942370" y="3529584"/>
            <a:ext cx="1084217" cy="201168"/>
          </a:xfrm>
          <a:prstGeom prst="rect">
            <a:avLst/>
          </a:prstGeom>
          <a:noFill/>
          <a:ln/>
        </p:spPr>
        <p:txBody>
          <a:bodyPr wrap="square" lIns="0" tIns="0" rIns="0" bIns="0" rtlCol="0" anchor="t"/>
          <a:lstStyle/>
          <a:p>
            <a:pPr indent="0" marL="0">
              <a:buNone/>
            </a:pPr>
            <a:r>
              <a:rPr lang="en-US" sz="850" dirty="0">
                <a:solidFill>
                  <a:srgbClr val="75706A"/>
                </a:solidFill>
                <a:latin typeface="Arial" pitchFamily="34" charset="0"/>
                <a:ea typeface="Arial" pitchFamily="34" charset="-122"/>
                <a:cs typeface="Arial" pitchFamily="34" charset="-120"/>
              </a:rPr>
              <a:t>DEMO workstream</a:t>
            </a:r>
            <a:endParaRPr lang="en-US" sz="850" dirty="0"/>
          </a:p>
        </p:txBody>
      </p:sp>
      <p:sp>
        <p:nvSpPr>
          <p:cNvPr id="30" name="Text 28"/>
          <p:cNvSpPr/>
          <p:nvPr/>
        </p:nvSpPr>
        <p:spPr>
          <a:xfrm>
            <a:off x="3942370" y="3767328"/>
            <a:ext cx="1084217" cy="932688"/>
          </a:xfrm>
          <a:prstGeom prst="rect">
            <a:avLst/>
          </a:prstGeom>
          <a:noFill/>
          <a:ln/>
        </p:spPr>
        <p:txBody>
          <a:bodyPr wrap="square" lIns="0" tIns="0" rIns="0" bIns="0" rtlCol="0" anchor="t"/>
          <a:lstStyle/>
          <a:p>
            <a:pPr indent="0" marL="0">
              <a:lnSpc>
                <a:spcPts val="1400"/>
              </a:lnSpc>
              <a:buNone/>
            </a:pPr>
            <a:r>
              <a:rPr lang="en-US" sz="1000" i="1" dirty="0">
                <a:solidFill>
                  <a:srgbClr val="A8A39B"/>
                </a:solidFill>
                <a:latin typeface="Arial" pitchFamily="34" charset="0"/>
                <a:ea typeface="Arial" pitchFamily="34" charset="-122"/>
                <a:cs typeface="Arial" pitchFamily="34" charset="-120"/>
              </a:rPr>
              <a:t>How much control do I have over what it writes?</a:t>
            </a:r>
            <a:endParaRPr lang="en-US" sz="1000" dirty="0"/>
          </a:p>
        </p:txBody>
      </p:sp>
      <p:sp>
        <p:nvSpPr>
          <p:cNvPr id="31" name="Text 29"/>
          <p:cNvSpPr/>
          <p:nvPr/>
        </p:nvSpPr>
        <p:spPr>
          <a:xfrm>
            <a:off x="3942370" y="4754880"/>
            <a:ext cx="1084217" cy="475488"/>
          </a:xfrm>
          <a:prstGeom prst="rect">
            <a:avLst/>
          </a:prstGeom>
          <a:noFill/>
          <a:ln/>
        </p:spPr>
        <p:txBody>
          <a:bodyPr wrap="square" lIns="0" tIns="0" rIns="0" bIns="0" rtlCol="0" anchor="t"/>
          <a:lstStyle/>
          <a:p>
            <a:pPr indent="0" marL="0">
              <a:buNone/>
            </a:pPr>
            <a:r>
              <a:rPr lang="en-US" sz="800" dirty="0">
                <a:solidFill>
                  <a:srgbClr val="75706A"/>
                </a:solidFill>
                <a:latin typeface="Arial" pitchFamily="34" charset="0"/>
                <a:ea typeface="Arial" pitchFamily="34" charset="-122"/>
                <a:cs typeface="Arial" pitchFamily="34" charset="-120"/>
              </a:rPr>
              <a:t>F19  F20  F21  F22  F23</a:t>
            </a:r>
            <a:endParaRPr lang="en-US" sz="800" dirty="0"/>
          </a:p>
        </p:txBody>
      </p:sp>
      <p:sp>
        <p:nvSpPr>
          <p:cNvPr id="32" name="Shape 30"/>
          <p:cNvSpPr/>
          <p:nvPr/>
        </p:nvSpPr>
        <p:spPr>
          <a:xfrm>
            <a:off x="5355771" y="1755648"/>
            <a:ext cx="1449977" cy="3529584"/>
          </a:xfrm>
          <a:prstGeom prst="roundRect">
            <a:avLst>
              <a:gd name="adj" fmla="val 3784"/>
            </a:avLst>
          </a:prstGeom>
          <a:solidFill>
            <a:srgbClr val="16161A"/>
          </a:solidFill>
          <a:ln w="9525">
            <a:solidFill>
              <a:srgbClr val="26262B"/>
            </a:solidFill>
            <a:prstDash val="solid"/>
          </a:ln>
        </p:spPr>
      </p:sp>
      <p:sp>
        <p:nvSpPr>
          <p:cNvPr id="33" name="Shape 31"/>
          <p:cNvSpPr/>
          <p:nvPr/>
        </p:nvSpPr>
        <p:spPr>
          <a:xfrm>
            <a:off x="5538651" y="1956816"/>
            <a:ext cx="274320" cy="274320"/>
          </a:xfrm>
          <a:prstGeom prst="ellipse">
            <a:avLst/>
          </a:prstGeom>
          <a:solidFill>
            <a:srgbClr val="1C1913"/>
          </a:solidFill>
          <a:ln w="9525">
            <a:solidFill>
              <a:srgbClr val="4A422F"/>
            </a:solidFill>
            <a:prstDash val="solid"/>
          </a:ln>
        </p:spPr>
      </p:sp>
      <p:sp>
        <p:nvSpPr>
          <p:cNvPr id="34" name="Text 32"/>
          <p:cNvSpPr/>
          <p:nvPr/>
        </p:nvSpPr>
        <p:spPr>
          <a:xfrm>
            <a:off x="5538651" y="1997964"/>
            <a:ext cx="274320" cy="201168"/>
          </a:xfrm>
          <a:prstGeom prst="rect">
            <a:avLst/>
          </a:prstGeom>
          <a:noFill/>
          <a:ln/>
        </p:spPr>
        <p:txBody>
          <a:bodyPr wrap="square" lIns="0" tIns="0" rIns="0" bIns="0" rtlCol="0" anchor="t"/>
          <a:lstStyle/>
          <a:p>
            <a:pPr algn="ctr" indent="0" marL="0">
              <a:buNone/>
            </a:pPr>
            <a:r>
              <a:rPr lang="en-US" sz="1100" b="1" dirty="0">
                <a:solidFill>
                  <a:srgbClr val="CBB78A"/>
                </a:solidFill>
                <a:latin typeface="Arial" pitchFamily="34" charset="0"/>
                <a:ea typeface="Arial" pitchFamily="34" charset="-122"/>
                <a:cs typeface="Arial" pitchFamily="34" charset="-120"/>
              </a:rPr>
              <a:t>4</a:t>
            </a:r>
            <a:endParaRPr lang="en-US" sz="1100" dirty="0"/>
          </a:p>
        </p:txBody>
      </p:sp>
      <p:sp>
        <p:nvSpPr>
          <p:cNvPr id="35" name="Text 33"/>
          <p:cNvSpPr/>
          <p:nvPr/>
        </p:nvSpPr>
        <p:spPr>
          <a:xfrm>
            <a:off x="5982789" y="2011680"/>
            <a:ext cx="640080" cy="182880"/>
          </a:xfrm>
          <a:prstGeom prst="rect">
            <a:avLst/>
          </a:prstGeom>
          <a:noFill/>
          <a:ln/>
        </p:spPr>
        <p:txBody>
          <a:bodyPr wrap="square" lIns="0" tIns="0" rIns="0" bIns="0" rtlCol="0" anchor="t"/>
          <a:lstStyle/>
          <a:p>
            <a:pPr algn="r" indent="0" marL="0">
              <a:buNone/>
            </a:pPr>
            <a:r>
              <a:rPr lang="en-US" sz="850" b="1" dirty="0">
                <a:solidFill>
                  <a:srgbClr val="CBB78A"/>
                </a:solidFill>
                <a:latin typeface="Arial" pitchFamily="34" charset="0"/>
                <a:ea typeface="Arial" pitchFamily="34" charset="-122"/>
                <a:cs typeface="Arial" pitchFamily="34" charset="-120"/>
              </a:rPr>
              <a:t>1 MIN</a:t>
            </a:r>
            <a:endParaRPr lang="en-US" sz="850" dirty="0"/>
          </a:p>
        </p:txBody>
      </p:sp>
      <p:sp>
        <p:nvSpPr>
          <p:cNvPr id="36" name="Text 34"/>
          <p:cNvSpPr/>
          <p:nvPr/>
        </p:nvSpPr>
        <p:spPr>
          <a:xfrm>
            <a:off x="5538651" y="2395728"/>
            <a:ext cx="1084217" cy="219456"/>
          </a:xfrm>
          <a:prstGeom prst="rect">
            <a:avLst/>
          </a:prstGeom>
          <a:noFill/>
          <a:ln/>
        </p:spPr>
        <p:txBody>
          <a:bodyPr wrap="square" lIns="0" tIns="0" rIns="0" bIns="0" rtlCol="0" anchor="t"/>
          <a:lstStyle/>
          <a:p>
            <a:pPr indent="0" marL="0">
              <a:buNone/>
            </a:pPr>
            <a:r>
              <a:rPr lang="en-US" sz="1000" b="1" spc="120" kern="0" dirty="0">
                <a:solidFill>
                  <a:srgbClr val="CBB78A"/>
                </a:solidFill>
                <a:latin typeface="Arial" pitchFamily="34" charset="0"/>
                <a:ea typeface="Arial" pitchFamily="34" charset="-122"/>
                <a:cs typeface="Arial" pitchFamily="34" charset="-120"/>
              </a:rPr>
              <a:t>Artifact</a:t>
            </a:r>
            <a:endParaRPr lang="en-US" sz="1000" dirty="0"/>
          </a:p>
        </p:txBody>
      </p:sp>
      <p:sp>
        <p:nvSpPr>
          <p:cNvPr id="37" name="Text 35"/>
          <p:cNvSpPr/>
          <p:nvPr/>
        </p:nvSpPr>
        <p:spPr>
          <a:xfrm>
            <a:off x="5538651" y="2670048"/>
            <a:ext cx="1084217" cy="822960"/>
          </a:xfrm>
          <a:prstGeom prst="rect">
            <a:avLst/>
          </a:prstGeom>
          <a:noFill/>
          <a:ln/>
        </p:spPr>
        <p:txBody>
          <a:bodyPr wrap="square" lIns="0" tIns="0" rIns="0" bIns="0" rtlCol="0" anchor="t"/>
          <a:lstStyle/>
          <a:p>
            <a:pPr indent="0" marL="0">
              <a:lnSpc>
                <a:spcPts val="1700"/>
              </a:lnSpc>
              <a:buNone/>
            </a:pPr>
            <a:r>
              <a:rPr lang="en-US" sz="1300" b="1" dirty="0">
                <a:solidFill>
                  <a:srgbClr val="EDEAE3"/>
                </a:solidFill>
                <a:latin typeface="Arial" pitchFamily="34" charset="0"/>
                <a:ea typeface="Arial" pitchFamily="34" charset="-122"/>
                <a:cs typeface="Arial" pitchFamily="34" charset="-120"/>
              </a:rPr>
              <a:t>An artifact lands</a:t>
            </a:r>
            <a:endParaRPr lang="en-US" sz="1300" dirty="0"/>
          </a:p>
        </p:txBody>
      </p:sp>
      <p:sp>
        <p:nvSpPr>
          <p:cNvPr id="38" name="Text 36"/>
          <p:cNvSpPr/>
          <p:nvPr/>
        </p:nvSpPr>
        <p:spPr>
          <a:xfrm>
            <a:off x="5538651" y="3529584"/>
            <a:ext cx="1084217" cy="201168"/>
          </a:xfrm>
          <a:prstGeom prst="rect">
            <a:avLst/>
          </a:prstGeom>
          <a:noFill/>
          <a:ln/>
        </p:spPr>
        <p:txBody>
          <a:bodyPr wrap="square" lIns="0" tIns="0" rIns="0" bIns="0" rtlCol="0" anchor="t"/>
          <a:lstStyle/>
          <a:p>
            <a:pPr indent="0" marL="0">
              <a:buNone/>
            </a:pPr>
            <a:r>
              <a:rPr lang="en-US" sz="850" dirty="0">
                <a:solidFill>
                  <a:srgbClr val="75706A"/>
                </a:solidFill>
                <a:latin typeface="Arial" pitchFamily="34" charset="0"/>
                <a:ea typeface="Arial" pitchFamily="34" charset="-122"/>
                <a:cs typeface="Arial" pitchFamily="34" charset="-120"/>
              </a:rPr>
              <a:t>DEMO workstream</a:t>
            </a:r>
            <a:endParaRPr lang="en-US" sz="850" dirty="0"/>
          </a:p>
        </p:txBody>
      </p:sp>
      <p:sp>
        <p:nvSpPr>
          <p:cNvPr id="39" name="Text 37"/>
          <p:cNvSpPr/>
          <p:nvPr/>
        </p:nvSpPr>
        <p:spPr>
          <a:xfrm>
            <a:off x="5538651" y="3767328"/>
            <a:ext cx="1084217" cy="932688"/>
          </a:xfrm>
          <a:prstGeom prst="rect">
            <a:avLst/>
          </a:prstGeom>
          <a:noFill/>
          <a:ln/>
        </p:spPr>
        <p:txBody>
          <a:bodyPr wrap="square" lIns="0" tIns="0" rIns="0" bIns="0" rtlCol="0" anchor="t"/>
          <a:lstStyle/>
          <a:p>
            <a:pPr indent="0" marL="0">
              <a:lnSpc>
                <a:spcPts val="1400"/>
              </a:lnSpc>
              <a:buNone/>
            </a:pPr>
            <a:r>
              <a:rPr lang="en-US" sz="1000" i="1" dirty="0">
                <a:solidFill>
                  <a:srgbClr val="A8A39B"/>
                </a:solidFill>
                <a:latin typeface="Arial" pitchFamily="34" charset="0"/>
                <a:ea typeface="Arial" pitchFamily="34" charset="-122"/>
                <a:cs typeface="Arial" pitchFamily="34" charset="-120"/>
              </a:rPr>
              <a:t>Is this something I can put in front of a client?</a:t>
            </a:r>
            <a:endParaRPr lang="en-US" sz="1000" dirty="0"/>
          </a:p>
        </p:txBody>
      </p:sp>
      <p:sp>
        <p:nvSpPr>
          <p:cNvPr id="40" name="Text 38"/>
          <p:cNvSpPr/>
          <p:nvPr/>
        </p:nvSpPr>
        <p:spPr>
          <a:xfrm>
            <a:off x="5538651" y="4754880"/>
            <a:ext cx="1084217" cy="475488"/>
          </a:xfrm>
          <a:prstGeom prst="rect">
            <a:avLst/>
          </a:prstGeom>
          <a:noFill/>
          <a:ln/>
        </p:spPr>
        <p:txBody>
          <a:bodyPr wrap="square" lIns="0" tIns="0" rIns="0" bIns="0" rtlCol="0" anchor="t"/>
          <a:lstStyle/>
          <a:p>
            <a:pPr indent="0" marL="0">
              <a:buNone/>
            </a:pPr>
            <a:r>
              <a:rPr lang="en-US" sz="800" dirty="0">
                <a:solidFill>
                  <a:srgbClr val="75706A"/>
                </a:solidFill>
                <a:latin typeface="Arial" pitchFamily="34" charset="0"/>
                <a:ea typeface="Arial" pitchFamily="34" charset="-122"/>
                <a:cs typeface="Arial" pitchFamily="34" charset="-120"/>
              </a:rPr>
              <a:t>F24  F25  F26  F28  F29</a:t>
            </a:r>
            <a:endParaRPr lang="en-US" sz="800" dirty="0"/>
          </a:p>
        </p:txBody>
      </p:sp>
      <p:sp>
        <p:nvSpPr>
          <p:cNvPr id="41" name="Shape 39"/>
          <p:cNvSpPr/>
          <p:nvPr/>
        </p:nvSpPr>
        <p:spPr>
          <a:xfrm>
            <a:off x="6952053" y="1755648"/>
            <a:ext cx="1449977" cy="3529584"/>
          </a:xfrm>
          <a:prstGeom prst="roundRect">
            <a:avLst>
              <a:gd name="adj" fmla="val 3784"/>
            </a:avLst>
          </a:prstGeom>
          <a:solidFill>
            <a:srgbClr val="16161A"/>
          </a:solidFill>
          <a:ln w="9525">
            <a:solidFill>
              <a:srgbClr val="26262B"/>
            </a:solidFill>
            <a:prstDash val="solid"/>
          </a:ln>
        </p:spPr>
      </p:sp>
      <p:sp>
        <p:nvSpPr>
          <p:cNvPr id="42" name="Shape 40"/>
          <p:cNvSpPr/>
          <p:nvPr/>
        </p:nvSpPr>
        <p:spPr>
          <a:xfrm>
            <a:off x="7134933" y="1956816"/>
            <a:ext cx="274320" cy="274320"/>
          </a:xfrm>
          <a:prstGeom prst="ellipse">
            <a:avLst/>
          </a:prstGeom>
          <a:solidFill>
            <a:srgbClr val="1C1913"/>
          </a:solidFill>
          <a:ln w="9525">
            <a:solidFill>
              <a:srgbClr val="4A422F"/>
            </a:solidFill>
            <a:prstDash val="solid"/>
          </a:ln>
        </p:spPr>
      </p:sp>
      <p:sp>
        <p:nvSpPr>
          <p:cNvPr id="43" name="Text 41"/>
          <p:cNvSpPr/>
          <p:nvPr/>
        </p:nvSpPr>
        <p:spPr>
          <a:xfrm>
            <a:off x="7134933" y="1997964"/>
            <a:ext cx="274320" cy="201168"/>
          </a:xfrm>
          <a:prstGeom prst="rect">
            <a:avLst/>
          </a:prstGeom>
          <a:noFill/>
          <a:ln/>
        </p:spPr>
        <p:txBody>
          <a:bodyPr wrap="square" lIns="0" tIns="0" rIns="0" bIns="0" rtlCol="0" anchor="t"/>
          <a:lstStyle/>
          <a:p>
            <a:pPr algn="ctr" indent="0" marL="0">
              <a:buNone/>
            </a:pPr>
            <a:r>
              <a:rPr lang="en-US" sz="1100" b="1" dirty="0">
                <a:solidFill>
                  <a:srgbClr val="CBB78A"/>
                </a:solidFill>
                <a:latin typeface="Arial" pitchFamily="34" charset="0"/>
                <a:ea typeface="Arial" pitchFamily="34" charset="-122"/>
                <a:cs typeface="Arial" pitchFamily="34" charset="-120"/>
              </a:rPr>
              <a:t>5</a:t>
            </a:r>
            <a:endParaRPr lang="en-US" sz="1100" dirty="0"/>
          </a:p>
        </p:txBody>
      </p:sp>
      <p:sp>
        <p:nvSpPr>
          <p:cNvPr id="44" name="Text 42"/>
          <p:cNvSpPr/>
          <p:nvPr/>
        </p:nvSpPr>
        <p:spPr>
          <a:xfrm>
            <a:off x="7579070" y="2011680"/>
            <a:ext cx="640080" cy="182880"/>
          </a:xfrm>
          <a:prstGeom prst="rect">
            <a:avLst/>
          </a:prstGeom>
          <a:noFill/>
          <a:ln/>
        </p:spPr>
        <p:txBody>
          <a:bodyPr wrap="square" lIns="0" tIns="0" rIns="0" bIns="0" rtlCol="0" anchor="t"/>
          <a:lstStyle/>
          <a:p>
            <a:pPr algn="r" indent="0" marL="0">
              <a:buNone/>
            </a:pPr>
            <a:r>
              <a:rPr lang="en-US" sz="850" b="1" dirty="0">
                <a:solidFill>
                  <a:srgbClr val="CBB78A"/>
                </a:solidFill>
                <a:latin typeface="Arial" pitchFamily="34" charset="0"/>
                <a:ea typeface="Arial" pitchFamily="34" charset="-122"/>
                <a:cs typeface="Arial" pitchFamily="34" charset="-120"/>
              </a:rPr>
              <a:t>2 MIN</a:t>
            </a:r>
            <a:endParaRPr lang="en-US" sz="850" dirty="0"/>
          </a:p>
        </p:txBody>
      </p:sp>
      <p:sp>
        <p:nvSpPr>
          <p:cNvPr id="45" name="Text 43"/>
          <p:cNvSpPr/>
          <p:nvPr/>
        </p:nvSpPr>
        <p:spPr>
          <a:xfrm>
            <a:off x="7134933" y="2395728"/>
            <a:ext cx="1084217" cy="219456"/>
          </a:xfrm>
          <a:prstGeom prst="rect">
            <a:avLst/>
          </a:prstGeom>
          <a:noFill/>
          <a:ln/>
        </p:spPr>
        <p:txBody>
          <a:bodyPr wrap="square" lIns="0" tIns="0" rIns="0" bIns="0" rtlCol="0" anchor="t"/>
          <a:lstStyle/>
          <a:p>
            <a:pPr indent="0" marL="0">
              <a:buNone/>
            </a:pPr>
            <a:r>
              <a:rPr lang="en-US" sz="1000" b="1" spc="120" kern="0" dirty="0">
                <a:solidFill>
                  <a:srgbClr val="CBB78A"/>
                </a:solidFill>
                <a:latin typeface="Arial" pitchFamily="34" charset="0"/>
                <a:ea typeface="Arial" pitchFamily="34" charset="-122"/>
                <a:cs typeface="Arial" pitchFamily="34" charset="-120"/>
              </a:rPr>
              <a:t>Type</a:t>
            </a:r>
            <a:endParaRPr lang="en-US" sz="1000" dirty="0"/>
          </a:p>
        </p:txBody>
      </p:sp>
      <p:sp>
        <p:nvSpPr>
          <p:cNvPr id="46" name="Text 44"/>
          <p:cNvSpPr/>
          <p:nvPr/>
        </p:nvSpPr>
        <p:spPr>
          <a:xfrm>
            <a:off x="7134933" y="2670048"/>
            <a:ext cx="1084217" cy="822960"/>
          </a:xfrm>
          <a:prstGeom prst="rect">
            <a:avLst/>
          </a:prstGeom>
          <a:noFill/>
          <a:ln/>
        </p:spPr>
        <p:txBody>
          <a:bodyPr wrap="square" lIns="0" tIns="0" rIns="0" bIns="0" rtlCol="0" anchor="t"/>
          <a:lstStyle/>
          <a:p>
            <a:pPr indent="0" marL="0">
              <a:lnSpc>
                <a:spcPts val="1700"/>
              </a:lnSpc>
              <a:buNone/>
            </a:pPr>
            <a:r>
              <a:rPr lang="en-US" sz="1300" b="1" dirty="0">
                <a:solidFill>
                  <a:srgbClr val="EDEAE3"/>
                </a:solidFill>
                <a:latin typeface="Arial" pitchFamily="34" charset="0"/>
                <a:ea typeface="Arial" pitchFamily="34" charset="-122"/>
                <a:cs typeface="Arial" pitchFamily="34" charset="-120"/>
              </a:rPr>
              <a:t>Every slide has a type</a:t>
            </a:r>
            <a:endParaRPr lang="en-US" sz="1300" dirty="0"/>
          </a:p>
        </p:txBody>
      </p:sp>
      <p:sp>
        <p:nvSpPr>
          <p:cNvPr id="47" name="Text 45"/>
          <p:cNvSpPr/>
          <p:nvPr/>
        </p:nvSpPr>
        <p:spPr>
          <a:xfrm>
            <a:off x="7134933" y="3529584"/>
            <a:ext cx="1084217" cy="201168"/>
          </a:xfrm>
          <a:prstGeom prst="rect">
            <a:avLst/>
          </a:prstGeom>
          <a:noFill/>
          <a:ln/>
        </p:spPr>
        <p:txBody>
          <a:bodyPr wrap="square" lIns="0" tIns="0" rIns="0" bIns="0" rtlCol="0" anchor="t"/>
          <a:lstStyle/>
          <a:p>
            <a:pPr indent="0" marL="0">
              <a:buNone/>
            </a:pPr>
            <a:r>
              <a:rPr lang="en-US" sz="850" dirty="0">
                <a:solidFill>
                  <a:srgbClr val="75706A"/>
                </a:solidFill>
                <a:latin typeface="Arial" pitchFamily="34" charset="0"/>
                <a:ea typeface="Arial" pitchFamily="34" charset="-122"/>
                <a:cs typeface="Arial" pitchFamily="34" charset="-120"/>
              </a:rPr>
              <a:t>DEMO workstream</a:t>
            </a:r>
            <a:endParaRPr lang="en-US" sz="850" dirty="0"/>
          </a:p>
        </p:txBody>
      </p:sp>
      <p:sp>
        <p:nvSpPr>
          <p:cNvPr id="48" name="Text 46"/>
          <p:cNvSpPr/>
          <p:nvPr/>
        </p:nvSpPr>
        <p:spPr>
          <a:xfrm>
            <a:off x="7134933" y="3767328"/>
            <a:ext cx="1084217" cy="932688"/>
          </a:xfrm>
          <a:prstGeom prst="rect">
            <a:avLst/>
          </a:prstGeom>
          <a:noFill/>
          <a:ln/>
        </p:spPr>
        <p:txBody>
          <a:bodyPr wrap="square" lIns="0" tIns="0" rIns="0" bIns="0" rtlCol="0" anchor="t"/>
          <a:lstStyle/>
          <a:p>
            <a:pPr indent="0" marL="0">
              <a:lnSpc>
                <a:spcPts val="1400"/>
              </a:lnSpc>
              <a:buNone/>
            </a:pPr>
            <a:r>
              <a:rPr lang="en-US" sz="1000" i="1" dirty="0">
                <a:solidFill>
                  <a:srgbClr val="A8A39B"/>
                </a:solidFill>
                <a:latin typeface="Arial" pitchFamily="34" charset="0"/>
                <a:ea typeface="Arial" pitchFamily="34" charset="-122"/>
                <a:cs typeface="Arial" pitchFamily="34" charset="-120"/>
              </a:rPr>
              <a:t>Does it just produce generic slides?</a:t>
            </a:r>
            <a:endParaRPr lang="en-US" sz="1000" dirty="0"/>
          </a:p>
        </p:txBody>
      </p:sp>
      <p:sp>
        <p:nvSpPr>
          <p:cNvPr id="49" name="Text 47"/>
          <p:cNvSpPr/>
          <p:nvPr/>
        </p:nvSpPr>
        <p:spPr>
          <a:xfrm>
            <a:off x="7134933" y="4754880"/>
            <a:ext cx="1084217" cy="475488"/>
          </a:xfrm>
          <a:prstGeom prst="rect">
            <a:avLst/>
          </a:prstGeom>
          <a:noFill/>
          <a:ln/>
        </p:spPr>
        <p:txBody>
          <a:bodyPr wrap="square" lIns="0" tIns="0" rIns="0" bIns="0" rtlCol="0" anchor="t"/>
          <a:lstStyle/>
          <a:p>
            <a:pPr indent="0" marL="0">
              <a:buNone/>
            </a:pPr>
            <a:r>
              <a:rPr lang="en-US" sz="800" dirty="0">
                <a:solidFill>
                  <a:srgbClr val="75706A"/>
                </a:solidFill>
                <a:latin typeface="Arial" pitchFamily="34" charset="0"/>
                <a:ea typeface="Arial" pitchFamily="34" charset="-122"/>
                <a:cs typeface="Arial" pitchFamily="34" charset="-120"/>
              </a:rPr>
              <a:t>F30  F31  F32</a:t>
            </a:r>
            <a:endParaRPr lang="en-US" sz="800" dirty="0"/>
          </a:p>
        </p:txBody>
      </p:sp>
      <p:sp>
        <p:nvSpPr>
          <p:cNvPr id="50" name="Shape 48"/>
          <p:cNvSpPr/>
          <p:nvPr/>
        </p:nvSpPr>
        <p:spPr>
          <a:xfrm>
            <a:off x="8548334" y="1755648"/>
            <a:ext cx="1449977" cy="3529584"/>
          </a:xfrm>
          <a:prstGeom prst="roundRect">
            <a:avLst>
              <a:gd name="adj" fmla="val 3784"/>
            </a:avLst>
          </a:prstGeom>
          <a:solidFill>
            <a:srgbClr val="16161A"/>
          </a:solidFill>
          <a:ln w="9525">
            <a:solidFill>
              <a:srgbClr val="26262B"/>
            </a:solidFill>
            <a:prstDash val="solid"/>
          </a:ln>
        </p:spPr>
      </p:sp>
      <p:sp>
        <p:nvSpPr>
          <p:cNvPr id="51" name="Shape 49"/>
          <p:cNvSpPr/>
          <p:nvPr/>
        </p:nvSpPr>
        <p:spPr>
          <a:xfrm>
            <a:off x="8731214" y="1956816"/>
            <a:ext cx="274320" cy="274320"/>
          </a:xfrm>
          <a:prstGeom prst="ellipse">
            <a:avLst/>
          </a:prstGeom>
          <a:solidFill>
            <a:srgbClr val="1C1913"/>
          </a:solidFill>
          <a:ln w="9525">
            <a:solidFill>
              <a:srgbClr val="4A422F"/>
            </a:solidFill>
            <a:prstDash val="solid"/>
          </a:ln>
        </p:spPr>
      </p:sp>
      <p:sp>
        <p:nvSpPr>
          <p:cNvPr id="52" name="Text 50"/>
          <p:cNvSpPr/>
          <p:nvPr/>
        </p:nvSpPr>
        <p:spPr>
          <a:xfrm>
            <a:off x="8731214" y="1997964"/>
            <a:ext cx="274320" cy="201168"/>
          </a:xfrm>
          <a:prstGeom prst="rect">
            <a:avLst/>
          </a:prstGeom>
          <a:noFill/>
          <a:ln/>
        </p:spPr>
        <p:txBody>
          <a:bodyPr wrap="square" lIns="0" tIns="0" rIns="0" bIns="0" rtlCol="0" anchor="t"/>
          <a:lstStyle/>
          <a:p>
            <a:pPr algn="ctr" indent="0" marL="0">
              <a:buNone/>
            </a:pPr>
            <a:r>
              <a:rPr lang="en-US" sz="1100" b="1" dirty="0">
                <a:solidFill>
                  <a:srgbClr val="CBB78A"/>
                </a:solidFill>
                <a:latin typeface="Arial" pitchFamily="34" charset="0"/>
                <a:ea typeface="Arial" pitchFamily="34" charset="-122"/>
                <a:cs typeface="Arial" pitchFamily="34" charset="-120"/>
              </a:rPr>
              <a:t>6</a:t>
            </a:r>
            <a:endParaRPr lang="en-US" sz="1100" dirty="0"/>
          </a:p>
        </p:txBody>
      </p:sp>
      <p:sp>
        <p:nvSpPr>
          <p:cNvPr id="53" name="Text 51"/>
          <p:cNvSpPr/>
          <p:nvPr/>
        </p:nvSpPr>
        <p:spPr>
          <a:xfrm>
            <a:off x="9175351" y="2011680"/>
            <a:ext cx="640080" cy="182880"/>
          </a:xfrm>
          <a:prstGeom prst="rect">
            <a:avLst/>
          </a:prstGeom>
          <a:noFill/>
          <a:ln/>
        </p:spPr>
        <p:txBody>
          <a:bodyPr wrap="square" lIns="0" tIns="0" rIns="0" bIns="0" rtlCol="0" anchor="t"/>
          <a:lstStyle/>
          <a:p>
            <a:pPr algn="r" indent="0" marL="0">
              <a:buNone/>
            </a:pPr>
            <a:r>
              <a:rPr lang="en-US" sz="850" b="1" dirty="0">
                <a:solidFill>
                  <a:srgbClr val="CBB78A"/>
                </a:solidFill>
                <a:latin typeface="Arial" pitchFamily="34" charset="0"/>
                <a:ea typeface="Arial" pitchFamily="34" charset="-122"/>
                <a:cs typeface="Arial" pitchFamily="34" charset="-120"/>
              </a:rPr>
              <a:t>2 MIN</a:t>
            </a:r>
            <a:endParaRPr lang="en-US" sz="850" dirty="0"/>
          </a:p>
        </p:txBody>
      </p:sp>
      <p:sp>
        <p:nvSpPr>
          <p:cNvPr id="54" name="Text 52"/>
          <p:cNvSpPr/>
          <p:nvPr/>
        </p:nvSpPr>
        <p:spPr>
          <a:xfrm>
            <a:off x="8731214" y="2395728"/>
            <a:ext cx="1084217" cy="219456"/>
          </a:xfrm>
          <a:prstGeom prst="rect">
            <a:avLst/>
          </a:prstGeom>
          <a:noFill/>
          <a:ln/>
        </p:spPr>
        <p:txBody>
          <a:bodyPr wrap="square" lIns="0" tIns="0" rIns="0" bIns="0" rtlCol="0" anchor="t"/>
          <a:lstStyle/>
          <a:p>
            <a:pPr indent="0" marL="0">
              <a:buNone/>
            </a:pPr>
            <a:r>
              <a:rPr lang="en-US" sz="1000" b="1" spc="120" kern="0" dirty="0">
                <a:solidFill>
                  <a:srgbClr val="CBB78A"/>
                </a:solidFill>
                <a:latin typeface="Arial" pitchFamily="34" charset="0"/>
                <a:ea typeface="Arial" pitchFamily="34" charset="-122"/>
                <a:cs typeface="Arial" pitchFamily="34" charset="-120"/>
              </a:rPr>
              <a:t>Retain</a:t>
            </a:r>
            <a:endParaRPr lang="en-US" sz="1000" dirty="0"/>
          </a:p>
        </p:txBody>
      </p:sp>
      <p:sp>
        <p:nvSpPr>
          <p:cNvPr id="55" name="Text 53"/>
          <p:cNvSpPr/>
          <p:nvPr/>
        </p:nvSpPr>
        <p:spPr>
          <a:xfrm>
            <a:off x="8731214" y="2670048"/>
            <a:ext cx="1084217" cy="822960"/>
          </a:xfrm>
          <a:prstGeom prst="rect">
            <a:avLst/>
          </a:prstGeom>
          <a:noFill/>
          <a:ln/>
        </p:spPr>
        <p:txBody>
          <a:bodyPr wrap="square" lIns="0" tIns="0" rIns="0" bIns="0" rtlCol="0" anchor="t"/>
          <a:lstStyle/>
          <a:p>
            <a:pPr indent="0" marL="0">
              <a:lnSpc>
                <a:spcPts val="1700"/>
              </a:lnSpc>
              <a:buNone/>
            </a:pPr>
            <a:r>
              <a:rPr lang="en-US" sz="1300" b="1" dirty="0">
                <a:solidFill>
                  <a:srgbClr val="EDEAE3"/>
                </a:solidFill>
                <a:latin typeface="Arial" pitchFamily="34" charset="0"/>
                <a:ea typeface="Arial" pitchFamily="34" charset="-122"/>
                <a:cs typeface="Arial" pitchFamily="34" charset="-120"/>
              </a:rPr>
              <a:t>Corrections are retained</a:t>
            </a:r>
            <a:endParaRPr lang="en-US" sz="1300" dirty="0"/>
          </a:p>
        </p:txBody>
      </p:sp>
      <p:sp>
        <p:nvSpPr>
          <p:cNvPr id="56" name="Text 54"/>
          <p:cNvSpPr/>
          <p:nvPr/>
        </p:nvSpPr>
        <p:spPr>
          <a:xfrm>
            <a:off x="8731214" y="3529584"/>
            <a:ext cx="1084217" cy="201168"/>
          </a:xfrm>
          <a:prstGeom prst="rect">
            <a:avLst/>
          </a:prstGeom>
          <a:noFill/>
          <a:ln/>
        </p:spPr>
        <p:txBody>
          <a:bodyPr wrap="square" lIns="0" tIns="0" rIns="0" bIns="0" rtlCol="0" anchor="t"/>
          <a:lstStyle/>
          <a:p>
            <a:pPr indent="0" marL="0">
              <a:buNone/>
            </a:pPr>
            <a:r>
              <a:rPr lang="en-US" sz="850" dirty="0">
                <a:solidFill>
                  <a:srgbClr val="75706A"/>
                </a:solidFill>
                <a:latin typeface="Arial" pitchFamily="34" charset="0"/>
                <a:ea typeface="Arial" pitchFamily="34" charset="-122"/>
                <a:cs typeface="Arial" pitchFamily="34" charset="-120"/>
              </a:rPr>
              <a:t>DEMO workstream</a:t>
            </a:r>
            <a:endParaRPr lang="en-US" sz="850" dirty="0"/>
          </a:p>
        </p:txBody>
      </p:sp>
      <p:sp>
        <p:nvSpPr>
          <p:cNvPr id="57" name="Text 55"/>
          <p:cNvSpPr/>
          <p:nvPr/>
        </p:nvSpPr>
        <p:spPr>
          <a:xfrm>
            <a:off x="8731214" y="3767328"/>
            <a:ext cx="1084217" cy="932688"/>
          </a:xfrm>
          <a:prstGeom prst="rect">
            <a:avLst/>
          </a:prstGeom>
          <a:noFill/>
          <a:ln/>
        </p:spPr>
        <p:txBody>
          <a:bodyPr wrap="square" lIns="0" tIns="0" rIns="0" bIns="0" rtlCol="0" anchor="t"/>
          <a:lstStyle/>
          <a:p>
            <a:pPr indent="0" marL="0">
              <a:lnSpc>
                <a:spcPts val="1400"/>
              </a:lnSpc>
              <a:buNone/>
            </a:pPr>
            <a:r>
              <a:rPr lang="en-US" sz="1000" i="1" dirty="0">
                <a:solidFill>
                  <a:srgbClr val="A8A39B"/>
                </a:solidFill>
                <a:latin typeface="Arial" pitchFamily="34" charset="0"/>
                <a:ea typeface="Arial" pitchFamily="34" charset="-122"/>
                <a:cs typeface="Arial" pitchFamily="34" charset="-120"/>
              </a:rPr>
              <a:t>Do I have to re-explain this every month?</a:t>
            </a:r>
            <a:endParaRPr lang="en-US" sz="1000" dirty="0"/>
          </a:p>
        </p:txBody>
      </p:sp>
      <p:sp>
        <p:nvSpPr>
          <p:cNvPr id="58" name="Text 56"/>
          <p:cNvSpPr/>
          <p:nvPr/>
        </p:nvSpPr>
        <p:spPr>
          <a:xfrm>
            <a:off x="8731214" y="4754880"/>
            <a:ext cx="1084217" cy="475488"/>
          </a:xfrm>
          <a:prstGeom prst="rect">
            <a:avLst/>
          </a:prstGeom>
          <a:noFill/>
          <a:ln/>
        </p:spPr>
        <p:txBody>
          <a:bodyPr wrap="square" lIns="0" tIns="0" rIns="0" bIns="0" rtlCol="0" anchor="t"/>
          <a:lstStyle/>
          <a:p>
            <a:pPr indent="0" marL="0">
              <a:buNone/>
            </a:pPr>
            <a:r>
              <a:rPr lang="en-US" sz="800" dirty="0">
                <a:solidFill>
                  <a:srgbClr val="75706A"/>
                </a:solidFill>
                <a:latin typeface="Arial" pitchFamily="34" charset="0"/>
                <a:ea typeface="Arial" pitchFamily="34" charset="-122"/>
                <a:cs typeface="Arial" pitchFamily="34" charset="-120"/>
              </a:rPr>
              <a:t>F36  F37  F38</a:t>
            </a:r>
            <a:endParaRPr lang="en-US" sz="800" dirty="0"/>
          </a:p>
        </p:txBody>
      </p:sp>
      <p:sp>
        <p:nvSpPr>
          <p:cNvPr id="59" name="Shape 57"/>
          <p:cNvSpPr/>
          <p:nvPr/>
        </p:nvSpPr>
        <p:spPr>
          <a:xfrm>
            <a:off x="10144615" y="1755648"/>
            <a:ext cx="1449977" cy="3529584"/>
          </a:xfrm>
          <a:prstGeom prst="roundRect">
            <a:avLst>
              <a:gd name="adj" fmla="val 3784"/>
            </a:avLst>
          </a:prstGeom>
          <a:solidFill>
            <a:srgbClr val="16161A"/>
          </a:solidFill>
          <a:ln w="9525">
            <a:solidFill>
              <a:srgbClr val="26262B"/>
            </a:solidFill>
            <a:prstDash val="solid"/>
          </a:ln>
        </p:spPr>
      </p:sp>
      <p:sp>
        <p:nvSpPr>
          <p:cNvPr id="60" name="Shape 58"/>
          <p:cNvSpPr/>
          <p:nvPr/>
        </p:nvSpPr>
        <p:spPr>
          <a:xfrm>
            <a:off x="10327495" y="1956816"/>
            <a:ext cx="274320" cy="274320"/>
          </a:xfrm>
          <a:prstGeom prst="ellipse">
            <a:avLst/>
          </a:prstGeom>
          <a:solidFill>
            <a:srgbClr val="1C1913"/>
          </a:solidFill>
          <a:ln w="9525">
            <a:solidFill>
              <a:srgbClr val="4A422F"/>
            </a:solidFill>
            <a:prstDash val="solid"/>
          </a:ln>
        </p:spPr>
      </p:sp>
      <p:sp>
        <p:nvSpPr>
          <p:cNvPr id="61" name="Text 59"/>
          <p:cNvSpPr/>
          <p:nvPr/>
        </p:nvSpPr>
        <p:spPr>
          <a:xfrm>
            <a:off x="10327495" y="1997964"/>
            <a:ext cx="274320" cy="201168"/>
          </a:xfrm>
          <a:prstGeom prst="rect">
            <a:avLst/>
          </a:prstGeom>
          <a:noFill/>
          <a:ln/>
        </p:spPr>
        <p:txBody>
          <a:bodyPr wrap="square" lIns="0" tIns="0" rIns="0" bIns="0" rtlCol="0" anchor="t"/>
          <a:lstStyle/>
          <a:p>
            <a:pPr algn="ctr" indent="0" marL="0">
              <a:buNone/>
            </a:pPr>
            <a:r>
              <a:rPr lang="en-US" sz="1100" b="1" dirty="0">
                <a:solidFill>
                  <a:srgbClr val="CBB78A"/>
                </a:solidFill>
                <a:latin typeface="Arial" pitchFamily="34" charset="0"/>
                <a:ea typeface="Arial" pitchFamily="34" charset="-122"/>
                <a:cs typeface="Arial" pitchFamily="34" charset="-120"/>
              </a:rPr>
              <a:t>7</a:t>
            </a:r>
            <a:endParaRPr lang="en-US" sz="1100" dirty="0"/>
          </a:p>
        </p:txBody>
      </p:sp>
      <p:sp>
        <p:nvSpPr>
          <p:cNvPr id="62" name="Text 60"/>
          <p:cNvSpPr/>
          <p:nvPr/>
        </p:nvSpPr>
        <p:spPr>
          <a:xfrm>
            <a:off x="10771632" y="2011680"/>
            <a:ext cx="640080" cy="182880"/>
          </a:xfrm>
          <a:prstGeom prst="rect">
            <a:avLst/>
          </a:prstGeom>
          <a:noFill/>
          <a:ln/>
        </p:spPr>
        <p:txBody>
          <a:bodyPr wrap="square" lIns="0" tIns="0" rIns="0" bIns="0" rtlCol="0" anchor="t"/>
          <a:lstStyle/>
          <a:p>
            <a:pPr algn="r" indent="0" marL="0">
              <a:buNone/>
            </a:pPr>
            <a:r>
              <a:rPr lang="en-US" sz="850" b="1" dirty="0">
                <a:solidFill>
                  <a:srgbClr val="CBB78A"/>
                </a:solidFill>
                <a:latin typeface="Arial" pitchFamily="34" charset="0"/>
                <a:ea typeface="Arial" pitchFamily="34" charset="-122"/>
                <a:cs typeface="Arial" pitchFamily="34" charset="-120"/>
              </a:rPr>
              <a:t>2 MIN</a:t>
            </a:r>
            <a:endParaRPr lang="en-US" sz="850" dirty="0"/>
          </a:p>
        </p:txBody>
      </p:sp>
      <p:sp>
        <p:nvSpPr>
          <p:cNvPr id="63" name="Text 61"/>
          <p:cNvSpPr/>
          <p:nvPr/>
        </p:nvSpPr>
        <p:spPr>
          <a:xfrm>
            <a:off x="10327495" y="2395728"/>
            <a:ext cx="1084217" cy="219456"/>
          </a:xfrm>
          <a:prstGeom prst="rect">
            <a:avLst/>
          </a:prstGeom>
          <a:noFill/>
          <a:ln/>
        </p:spPr>
        <p:txBody>
          <a:bodyPr wrap="square" lIns="0" tIns="0" rIns="0" bIns="0" rtlCol="0" anchor="t"/>
          <a:lstStyle/>
          <a:p>
            <a:pPr indent="0" marL="0">
              <a:buNone/>
            </a:pPr>
            <a:r>
              <a:rPr lang="en-US" sz="1000" b="1" spc="120" kern="0" dirty="0">
                <a:solidFill>
                  <a:srgbClr val="CBB78A"/>
                </a:solidFill>
                <a:latin typeface="Arial" pitchFamily="34" charset="0"/>
                <a:ea typeface="Arial" pitchFamily="34" charset="-122"/>
                <a:cs typeface="Arial" pitchFamily="34" charset="-120"/>
              </a:rPr>
              <a:t>Verify</a:t>
            </a:r>
            <a:endParaRPr lang="en-US" sz="1000" dirty="0"/>
          </a:p>
        </p:txBody>
      </p:sp>
      <p:sp>
        <p:nvSpPr>
          <p:cNvPr id="64" name="Text 62"/>
          <p:cNvSpPr/>
          <p:nvPr/>
        </p:nvSpPr>
        <p:spPr>
          <a:xfrm>
            <a:off x="10327495" y="2670048"/>
            <a:ext cx="1084217" cy="822960"/>
          </a:xfrm>
          <a:prstGeom prst="rect">
            <a:avLst/>
          </a:prstGeom>
          <a:noFill/>
          <a:ln/>
        </p:spPr>
        <p:txBody>
          <a:bodyPr wrap="square" lIns="0" tIns="0" rIns="0" bIns="0" rtlCol="0" anchor="t"/>
          <a:lstStyle/>
          <a:p>
            <a:pPr indent="0" marL="0">
              <a:lnSpc>
                <a:spcPts val="1700"/>
              </a:lnSpc>
              <a:buNone/>
            </a:pPr>
            <a:r>
              <a:rPr lang="en-US" sz="1300" b="1" dirty="0">
                <a:solidFill>
                  <a:srgbClr val="EDEAE3"/>
                </a:solidFill>
                <a:latin typeface="Arial" pitchFamily="34" charset="0"/>
                <a:ea typeface="Arial" pitchFamily="34" charset="-122"/>
                <a:cs typeface="Arial" pitchFamily="34" charset="-120"/>
              </a:rPr>
              <a:t>It tests itself</a:t>
            </a:r>
            <a:endParaRPr lang="en-US" sz="1300" dirty="0"/>
          </a:p>
        </p:txBody>
      </p:sp>
      <p:sp>
        <p:nvSpPr>
          <p:cNvPr id="65" name="Text 63"/>
          <p:cNvSpPr/>
          <p:nvPr/>
        </p:nvSpPr>
        <p:spPr>
          <a:xfrm>
            <a:off x="10327495" y="3529584"/>
            <a:ext cx="1084217" cy="201168"/>
          </a:xfrm>
          <a:prstGeom prst="rect">
            <a:avLst/>
          </a:prstGeom>
          <a:noFill/>
          <a:ln/>
        </p:spPr>
        <p:txBody>
          <a:bodyPr wrap="square" lIns="0" tIns="0" rIns="0" bIns="0" rtlCol="0" anchor="t"/>
          <a:lstStyle/>
          <a:p>
            <a:pPr indent="0" marL="0">
              <a:buNone/>
            </a:pPr>
            <a:r>
              <a:rPr lang="en-US" sz="850" dirty="0">
                <a:solidFill>
                  <a:srgbClr val="75706A"/>
                </a:solidFill>
                <a:latin typeface="Arial" pitchFamily="34" charset="0"/>
                <a:ea typeface="Arial" pitchFamily="34" charset="-122"/>
                <a:cs typeface="Arial" pitchFamily="34" charset="-120"/>
              </a:rPr>
              <a:t>BigQuery workstream</a:t>
            </a:r>
            <a:endParaRPr lang="en-US" sz="850" dirty="0"/>
          </a:p>
        </p:txBody>
      </p:sp>
      <p:sp>
        <p:nvSpPr>
          <p:cNvPr id="66" name="Text 64"/>
          <p:cNvSpPr/>
          <p:nvPr/>
        </p:nvSpPr>
        <p:spPr>
          <a:xfrm>
            <a:off x="10327495" y="3767328"/>
            <a:ext cx="1084217" cy="932688"/>
          </a:xfrm>
          <a:prstGeom prst="rect">
            <a:avLst/>
          </a:prstGeom>
          <a:noFill/>
          <a:ln/>
        </p:spPr>
        <p:txBody>
          <a:bodyPr wrap="square" lIns="0" tIns="0" rIns="0" bIns="0" rtlCol="0" anchor="t"/>
          <a:lstStyle/>
          <a:p>
            <a:pPr indent="0" marL="0">
              <a:lnSpc>
                <a:spcPts val="1400"/>
              </a:lnSpc>
              <a:buNone/>
            </a:pPr>
            <a:r>
              <a:rPr lang="en-US" sz="1000" i="1" dirty="0">
                <a:solidFill>
                  <a:srgbClr val="A8A39B"/>
                </a:solidFill>
                <a:latin typeface="Arial" pitchFamily="34" charset="0"/>
                <a:ea typeface="Arial" pitchFamily="34" charset="-122"/>
                <a:cs typeface="Arial" pitchFamily="34" charset="-120"/>
              </a:rPr>
              <a:t>What happens when it gets something wrong?</a:t>
            </a:r>
            <a:endParaRPr lang="en-US" sz="1000" dirty="0"/>
          </a:p>
        </p:txBody>
      </p:sp>
      <p:sp>
        <p:nvSpPr>
          <p:cNvPr id="67" name="Text 65"/>
          <p:cNvSpPr/>
          <p:nvPr/>
        </p:nvSpPr>
        <p:spPr>
          <a:xfrm>
            <a:off x="10327495" y="4754880"/>
            <a:ext cx="1084217" cy="475488"/>
          </a:xfrm>
          <a:prstGeom prst="rect">
            <a:avLst/>
          </a:prstGeom>
          <a:noFill/>
          <a:ln/>
        </p:spPr>
        <p:txBody>
          <a:bodyPr wrap="square" lIns="0" tIns="0" rIns="0" bIns="0" rtlCol="0" anchor="t"/>
          <a:lstStyle/>
          <a:p>
            <a:pPr indent="0" marL="0">
              <a:buNone/>
            </a:pPr>
            <a:r>
              <a:rPr lang="en-US" sz="800" dirty="0">
                <a:solidFill>
                  <a:srgbClr val="75706A"/>
                </a:solidFill>
                <a:latin typeface="Arial" pitchFamily="34" charset="0"/>
                <a:ea typeface="Arial" pitchFamily="34" charset="-122"/>
                <a:cs typeface="Arial" pitchFamily="34" charset="-120"/>
              </a:rPr>
              <a:t>F66  F67  F68  F69  F70  F77  F79  F80  F81</a:t>
            </a:r>
            <a:endParaRPr lang="en-US" sz="800" dirty="0"/>
          </a:p>
        </p:txBody>
      </p:sp>
      <p:sp>
        <p:nvSpPr>
          <p:cNvPr id="68" name="Text 66"/>
          <p:cNvSpPr/>
          <p:nvPr/>
        </p:nvSpPr>
        <p:spPr>
          <a:xfrm>
            <a:off x="566928" y="5486400"/>
            <a:ext cx="11027664" cy="237744"/>
          </a:xfrm>
          <a:prstGeom prst="rect">
            <a:avLst/>
          </a:prstGeom>
          <a:noFill/>
          <a:ln/>
        </p:spPr>
        <p:txBody>
          <a:bodyPr wrap="square" lIns="0" tIns="0" rIns="0" bIns="0" rtlCol="0" anchor="t"/>
          <a:lstStyle/>
          <a:p>
            <a:pPr indent="0" marL="0">
              <a:buNone/>
            </a:pPr>
            <a:r>
              <a:rPr lang="en-US" sz="1100" dirty="0">
                <a:solidFill>
                  <a:srgbClr val="75706A"/>
                </a:solidFill>
                <a:latin typeface="Arial" pitchFamily="34" charset="0"/>
                <a:ea typeface="Arial" pitchFamily="34" charset="-122"/>
                <a:cs typeface="Arial" pitchFamily="34" charset="-120"/>
              </a:rPr>
              <a:t>Total 12 minutes  ·  30 of 100 catalogued features</a:t>
            </a:r>
            <a:endParaRPr lang="en-US" sz="1100" dirty="0"/>
          </a:p>
        </p:txBody>
      </p:sp>
      <p:sp>
        <p:nvSpPr>
          <p:cNvPr id="69" name="Shape 67"/>
          <p:cNvSpPr/>
          <p:nvPr/>
        </p:nvSpPr>
        <p:spPr>
          <a:xfrm>
            <a:off x="566928" y="6345936"/>
            <a:ext cx="11027664" cy="0"/>
          </a:xfrm>
          <a:prstGeom prst="line">
            <a:avLst/>
          </a:prstGeom>
          <a:noFill/>
          <a:ln w="9525">
            <a:solidFill>
              <a:srgbClr val="26262B"/>
            </a:solidFill>
            <a:prstDash val="solid"/>
          </a:ln>
        </p:spPr>
      </p:sp>
      <p:sp>
        <p:nvSpPr>
          <p:cNvPr id="70" name="Text 68"/>
          <p:cNvSpPr/>
          <p:nvPr/>
        </p:nvSpPr>
        <p:spPr>
          <a:xfrm>
            <a:off x="566928" y="6419088"/>
            <a:ext cx="6400800" cy="201168"/>
          </a:xfrm>
          <a:prstGeom prst="rect">
            <a:avLst/>
          </a:prstGeom>
          <a:noFill/>
          <a:ln/>
        </p:spPr>
        <p:txBody>
          <a:bodyPr wrap="square" lIns="0" tIns="0" rIns="0" bIns="0" rtlCol="0" anchor="t"/>
          <a:lstStyle/>
          <a:p>
            <a:pPr indent="0" marL="0">
              <a:buNone/>
            </a:pPr>
            <a:r>
              <a:rPr lang="en-US" sz="900" dirty="0">
                <a:solidFill>
                  <a:srgbClr val="75706A"/>
                </a:solidFill>
                <a:latin typeface="Arial" pitchFamily="34" charset="0"/>
                <a:ea typeface="Arial" pitchFamily="34" charset="-122"/>
                <a:cs typeface="Arial" pitchFamily="34" charset="-120"/>
              </a:rPr>
              <a:t>PXEngine  ·  demo cut  ·  12 minutes</a:t>
            </a:r>
            <a:endParaRPr lang="en-US" sz="900" dirty="0"/>
          </a:p>
        </p:txBody>
      </p:sp>
      <p:sp>
        <p:nvSpPr>
          <p:cNvPr id="71" name="Text 69"/>
          <p:cNvSpPr/>
          <p:nvPr/>
        </p:nvSpPr>
        <p:spPr>
          <a:xfrm>
            <a:off x="11045952" y="6419088"/>
            <a:ext cx="548640" cy="201168"/>
          </a:xfrm>
          <a:prstGeom prst="rect">
            <a:avLst/>
          </a:prstGeom>
          <a:noFill/>
          <a:ln/>
        </p:spPr>
        <p:txBody>
          <a:bodyPr wrap="square" lIns="0" tIns="0" rIns="0" bIns="0" rtlCol="0" anchor="t"/>
          <a:lstStyle/>
          <a:p>
            <a:pPr algn="r" indent="0" marL="0">
              <a:buNone/>
            </a:pPr>
            <a:r>
              <a:rPr lang="en-US" sz="900" dirty="0">
                <a:solidFill>
                  <a:srgbClr val="75706A"/>
                </a:solidFill>
                <a:latin typeface="Arial" pitchFamily="34" charset="0"/>
                <a:ea typeface="Arial" pitchFamily="34" charset="-122"/>
                <a:cs typeface="Arial"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0A0A"/>
        </a:solidFill>
      </p:bgPr>
    </p:bg>
    <p:spTree>
      <p:nvGrpSpPr>
        <p:cNvPr id="1" name=""/>
        <p:cNvGrpSpPr/>
        <p:nvPr/>
      </p:nvGrpSpPr>
      <p:grpSpPr>
        <a:xfrm>
          <a:off x="0" y="0"/>
          <a:ext cx="0" cy="0"/>
          <a:chOff x="0" y="0"/>
          <a:chExt cx="0" cy="0"/>
        </a:xfrm>
      </p:grpSpPr>
      <p:sp>
        <p:nvSpPr>
          <p:cNvPr id="2" name="Text 0"/>
          <p:cNvSpPr/>
          <p:nvPr/>
        </p:nvSpPr>
        <p:spPr>
          <a:xfrm>
            <a:off x="566928" y="365760"/>
            <a:ext cx="11027664" cy="182880"/>
          </a:xfrm>
          <a:prstGeom prst="rect">
            <a:avLst/>
          </a:prstGeom>
          <a:noFill/>
          <a:ln/>
        </p:spPr>
        <p:txBody>
          <a:bodyPr wrap="square" lIns="0" tIns="0" rIns="0" bIns="0" rtlCol="0" anchor="t"/>
          <a:lstStyle/>
          <a:p>
            <a:pPr indent="0" marL="0">
              <a:buNone/>
            </a:pPr>
            <a:r>
              <a:rPr lang="en-US" sz="1000" b="1" spc="220" kern="0" dirty="0">
                <a:solidFill>
                  <a:srgbClr val="CBB78A"/>
                </a:solidFill>
                <a:latin typeface="Arial" pitchFamily="34" charset="0"/>
                <a:ea typeface="Arial" pitchFamily="34" charset="-122"/>
                <a:cs typeface="Arial" pitchFamily="34" charset="-120"/>
              </a:rPr>
              <a:t>STAGE 1 OF 7  ·  1 MIN  ·  DOCUMENTATION STEP 3.1</a:t>
            </a:r>
            <a:endParaRPr lang="en-US" sz="1000" dirty="0"/>
          </a:p>
        </p:txBody>
      </p:sp>
      <p:sp>
        <p:nvSpPr>
          <p:cNvPr id="3" name="Text 1"/>
          <p:cNvSpPr/>
          <p:nvPr/>
        </p:nvSpPr>
        <p:spPr>
          <a:xfrm>
            <a:off x="566928" y="585216"/>
            <a:ext cx="11027664" cy="457200"/>
          </a:xfrm>
          <a:prstGeom prst="rect">
            <a:avLst/>
          </a:prstGeom>
          <a:noFill/>
          <a:ln/>
        </p:spPr>
        <p:txBody>
          <a:bodyPr wrap="square" lIns="0" tIns="0" rIns="0" bIns="0" rtlCol="0" anchor="t"/>
          <a:lstStyle/>
          <a:p>
            <a:pPr indent="0" marL="0">
              <a:buNone/>
            </a:pPr>
            <a:r>
              <a:rPr lang="en-US" sz="2600" b="1" dirty="0">
                <a:solidFill>
                  <a:srgbClr val="EDEAE3"/>
                </a:solidFill>
                <a:latin typeface="Arial" pitchFamily="34" charset="0"/>
                <a:ea typeface="Arial" pitchFamily="34" charset="-122"/>
                <a:cs typeface="Arial" pitchFamily="34" charset="-120"/>
              </a:rPr>
              <a:t>Open on the ask</a:t>
            </a:r>
            <a:endParaRPr lang="en-US" sz="2600" dirty="0"/>
          </a:p>
        </p:txBody>
      </p:sp>
      <p:sp>
        <p:nvSpPr>
          <p:cNvPr id="4" name="Text 2"/>
          <p:cNvSpPr/>
          <p:nvPr/>
        </p:nvSpPr>
        <p:spPr>
          <a:xfrm>
            <a:off x="566928" y="1097280"/>
            <a:ext cx="10661904" cy="237744"/>
          </a:xfrm>
          <a:prstGeom prst="rect">
            <a:avLst/>
          </a:prstGeom>
          <a:noFill/>
          <a:ln/>
        </p:spPr>
        <p:txBody>
          <a:bodyPr wrap="square" lIns="0" tIns="0" rIns="0" bIns="0" rtlCol="0" anchor="t"/>
          <a:lstStyle/>
          <a:p>
            <a:pPr indent="0" marL="0">
              <a:buNone/>
            </a:pPr>
            <a:r>
              <a:rPr lang="en-US" sz="1100" b="1" dirty="0">
                <a:solidFill>
                  <a:srgbClr val="CBB78A"/>
                </a:solidFill>
                <a:latin typeface="Arial" pitchFamily="34" charset="0"/>
                <a:ea typeface="Arial" pitchFamily="34" charset="-122"/>
                <a:cs typeface="Arial" pitchFamily="34" charset="-120"/>
              </a:rPr>
              <a:t>Home</a:t>
            </a:r>
            <a:pPr indent="0" marL="0">
              <a:buNone/>
            </a:pPr>
            <a:endParaRPr lang="en-US" sz="1100" dirty="0"/>
          </a:p>
        </p:txBody>
      </p:sp>
      <p:pic>
        <p:nvPicPr>
          <p:cNvPr id="5" name="Image 0" descr="preencoded.png">    </p:cNvPr>
          <p:cNvPicPr>
            <a:picLocks noChangeAspect="1"/>
          </p:cNvPicPr>
          <p:nvPr/>
        </p:nvPicPr>
        <p:blipFill>
          <a:blip r:embed="rId1"/>
          <a:stretch>
            <a:fillRect/>
          </a:stretch>
        </p:blipFill>
        <p:spPr>
          <a:xfrm>
            <a:off x="5541264" y="1627632"/>
            <a:ext cx="6053328" cy="3404997"/>
          </a:xfrm>
          <a:prstGeom prst="rect">
            <a:avLst/>
          </a:prstGeom>
        </p:spPr>
      </p:pic>
      <p:sp>
        <p:nvSpPr>
          <p:cNvPr id="6" name="Shape 3"/>
          <p:cNvSpPr/>
          <p:nvPr/>
        </p:nvSpPr>
        <p:spPr>
          <a:xfrm>
            <a:off x="5541264" y="1627632"/>
            <a:ext cx="6053328" cy="3404997"/>
          </a:xfrm>
          <a:prstGeom prst="rect">
            <a:avLst/>
          </a:prstGeom>
          <a:ln w="9525">
            <a:solidFill>
              <a:srgbClr val="26262B"/>
            </a:solidFill>
            <a:prstDash val="solid"/>
          </a:ln>
        </p:spPr>
      </p:sp>
      <p:sp>
        <p:nvSpPr>
          <p:cNvPr id="7" name="Text 4"/>
          <p:cNvSpPr/>
          <p:nvPr/>
        </p:nvSpPr>
        <p:spPr>
          <a:xfrm>
            <a:off x="5541264" y="5142357"/>
            <a:ext cx="6053328" cy="201168"/>
          </a:xfrm>
          <a:prstGeom prst="rect">
            <a:avLst/>
          </a:prstGeom>
          <a:noFill/>
          <a:ln/>
        </p:spPr>
        <p:txBody>
          <a:bodyPr wrap="square" lIns="0" tIns="0" rIns="0" bIns="0" rtlCol="0" anchor="t"/>
          <a:lstStyle/>
          <a:p>
            <a:pPr indent="0" marL="0">
              <a:buNone/>
            </a:pPr>
            <a:r>
              <a:rPr lang="en-US" sz="900" dirty="0">
                <a:solidFill>
                  <a:srgbClr val="75706A"/>
                </a:solidFill>
                <a:latin typeface="Arial" pitchFamily="34" charset="0"/>
                <a:ea typeface="Arial" pitchFamily="34" charset="-122"/>
                <a:cs typeface="Arial" pitchFamily="34" charset="-120"/>
              </a:rPr>
              <a:t>Documentation figure 3.1</a:t>
            </a:r>
            <a:endParaRPr lang="en-US" sz="900" dirty="0"/>
          </a:p>
        </p:txBody>
      </p:sp>
      <p:sp>
        <p:nvSpPr>
          <p:cNvPr id="8" name="Text 5"/>
          <p:cNvSpPr/>
          <p:nvPr/>
        </p:nvSpPr>
        <p:spPr>
          <a:xfrm>
            <a:off x="566928" y="1664208"/>
            <a:ext cx="2743200" cy="164592"/>
          </a:xfrm>
          <a:prstGeom prst="rect">
            <a:avLst/>
          </a:prstGeom>
          <a:noFill/>
          <a:ln/>
        </p:spPr>
        <p:txBody>
          <a:bodyPr wrap="square" lIns="0" tIns="0" rIns="0" bIns="0" rtlCol="0" anchor="t"/>
          <a:lstStyle/>
          <a:p>
            <a:pPr indent="0" marL="0">
              <a:buNone/>
            </a:pPr>
            <a:r>
              <a:rPr lang="en-US" sz="850" b="1" spc="160" kern="0" dirty="0">
                <a:solidFill>
                  <a:srgbClr val="75706A"/>
                </a:solidFill>
                <a:latin typeface="Arial" pitchFamily="34" charset="0"/>
                <a:ea typeface="Arial" pitchFamily="34" charset="-122"/>
                <a:cs typeface="Arial" pitchFamily="34" charset="-120"/>
              </a:rPr>
              <a:t>SHOW</a:t>
            </a:r>
            <a:endParaRPr lang="en-US" sz="850" dirty="0"/>
          </a:p>
        </p:txBody>
      </p:sp>
      <p:sp>
        <p:nvSpPr>
          <p:cNvPr id="9" name="Text 6"/>
          <p:cNvSpPr/>
          <p:nvPr/>
        </p:nvSpPr>
        <p:spPr>
          <a:xfrm>
            <a:off x="566928" y="1865376"/>
            <a:ext cx="4572000" cy="731520"/>
          </a:xfrm>
          <a:prstGeom prst="rect">
            <a:avLst/>
          </a:prstGeom>
          <a:noFill/>
          <a:ln/>
        </p:spPr>
        <p:txBody>
          <a:bodyPr wrap="square" lIns="0" tIns="0" rIns="0" bIns="0" rtlCol="0" anchor="t"/>
          <a:lstStyle/>
          <a:p>
            <a:pPr indent="0" marL="0">
              <a:lnSpc>
                <a:spcPts val="1900"/>
              </a:lnSpc>
              <a:buNone/>
            </a:pPr>
            <a:r>
              <a:rPr lang="en-US" sz="1300" dirty="0">
                <a:solidFill>
                  <a:srgbClr val="EDEAE3"/>
                </a:solidFill>
                <a:latin typeface="Arial" pitchFamily="34" charset="0"/>
                <a:ea typeface="Arial" pitchFamily="34" charset="-122"/>
                <a:cs typeface="Arial" pitchFamily="34" charset="-120"/>
              </a:rPr>
              <a:t>The home screen. Do not open the template picker.</a:t>
            </a:r>
            <a:endParaRPr lang="en-US" sz="1300" dirty="0"/>
          </a:p>
        </p:txBody>
      </p:sp>
      <p:sp>
        <p:nvSpPr>
          <p:cNvPr id="10" name="Text 7"/>
          <p:cNvSpPr/>
          <p:nvPr/>
        </p:nvSpPr>
        <p:spPr>
          <a:xfrm>
            <a:off x="566928" y="2743200"/>
            <a:ext cx="2743200" cy="164592"/>
          </a:xfrm>
          <a:prstGeom prst="rect">
            <a:avLst/>
          </a:prstGeom>
          <a:noFill/>
          <a:ln/>
        </p:spPr>
        <p:txBody>
          <a:bodyPr wrap="square" lIns="0" tIns="0" rIns="0" bIns="0" rtlCol="0" anchor="t"/>
          <a:lstStyle/>
          <a:p>
            <a:pPr indent="0" marL="0">
              <a:buNone/>
            </a:pPr>
            <a:r>
              <a:rPr lang="en-US" sz="850" b="1" spc="160" kern="0" dirty="0">
                <a:solidFill>
                  <a:srgbClr val="75706A"/>
                </a:solidFill>
                <a:latin typeface="Arial" pitchFamily="34" charset="0"/>
                <a:ea typeface="Arial" pitchFamily="34" charset="-122"/>
                <a:cs typeface="Arial" pitchFamily="34" charset="-120"/>
              </a:rPr>
              <a:t>EXPLAIN</a:t>
            </a:r>
            <a:endParaRPr lang="en-US" sz="850" dirty="0"/>
          </a:p>
        </p:txBody>
      </p:sp>
      <p:sp>
        <p:nvSpPr>
          <p:cNvPr id="11" name="Text 8"/>
          <p:cNvSpPr/>
          <p:nvPr/>
        </p:nvSpPr>
        <p:spPr>
          <a:xfrm>
            <a:off x="566928" y="2944368"/>
            <a:ext cx="4572000" cy="1463040"/>
          </a:xfrm>
          <a:prstGeom prst="rect">
            <a:avLst/>
          </a:prstGeom>
          <a:noFill/>
          <a:ln/>
        </p:spPr>
        <p:txBody>
          <a:bodyPr wrap="square" lIns="0" tIns="0" rIns="0" bIns="0" rtlCol="0" anchor="t"/>
          <a:lstStyle/>
          <a:p>
            <a:pPr indent="0" marL="0">
              <a:lnSpc>
                <a:spcPts val="1900"/>
              </a:lnSpc>
              <a:buNone/>
            </a:pPr>
            <a:r>
              <a:rPr lang="en-US" sz="1250" dirty="0">
                <a:solidFill>
                  <a:srgbClr val="A8A39B"/>
                </a:solidFill>
                <a:latin typeface="Arial" pitchFamily="34" charset="0"/>
                <a:ea typeface="Arial" pitchFamily="34" charset="-122"/>
                <a:cs typeface="Arial" pitchFamily="34" charset="-120"/>
              </a:rPr>
              <a:t>Work starts from one sentence. A template or a gallery agent is optional, not a prerequisite — nothing has to be configured before the first request.</a:t>
            </a:r>
            <a:endParaRPr lang="en-US" sz="1250" dirty="0"/>
          </a:p>
        </p:txBody>
      </p:sp>
      <p:sp>
        <p:nvSpPr>
          <p:cNvPr id="12" name="Shape 9"/>
          <p:cNvSpPr/>
          <p:nvPr/>
        </p:nvSpPr>
        <p:spPr>
          <a:xfrm>
            <a:off x="566928" y="4517136"/>
            <a:ext cx="4572000" cy="1097280"/>
          </a:xfrm>
          <a:prstGeom prst="roundRect">
            <a:avLst>
              <a:gd name="adj" fmla="val 5000"/>
            </a:avLst>
          </a:prstGeom>
          <a:solidFill>
            <a:srgbClr val="1C1913"/>
          </a:solidFill>
          <a:ln w="9525">
            <a:solidFill>
              <a:srgbClr val="4A422F"/>
            </a:solidFill>
            <a:prstDash val="solid"/>
          </a:ln>
        </p:spPr>
      </p:sp>
      <p:sp>
        <p:nvSpPr>
          <p:cNvPr id="13" name="Text 10"/>
          <p:cNvSpPr/>
          <p:nvPr/>
        </p:nvSpPr>
        <p:spPr>
          <a:xfrm>
            <a:off x="786384" y="4700016"/>
            <a:ext cx="2743200" cy="164592"/>
          </a:xfrm>
          <a:prstGeom prst="rect">
            <a:avLst/>
          </a:prstGeom>
          <a:noFill/>
          <a:ln/>
        </p:spPr>
        <p:txBody>
          <a:bodyPr wrap="square" lIns="0" tIns="0" rIns="0" bIns="0" rtlCol="0" anchor="t"/>
          <a:lstStyle/>
          <a:p>
            <a:pPr indent="0" marL="0">
              <a:buNone/>
            </a:pPr>
            <a:r>
              <a:rPr lang="en-US" sz="850" b="1" spc="160" kern="0" dirty="0">
                <a:solidFill>
                  <a:srgbClr val="CBB78A"/>
                </a:solidFill>
                <a:latin typeface="Arial" pitchFamily="34" charset="0"/>
                <a:ea typeface="Arial" pitchFamily="34" charset="-122"/>
                <a:cs typeface="Arial" pitchFamily="34" charset="-120"/>
              </a:rPr>
              <a:t>ANSWERS</a:t>
            </a:r>
            <a:endParaRPr lang="en-US" sz="850" dirty="0"/>
          </a:p>
        </p:txBody>
      </p:sp>
      <p:sp>
        <p:nvSpPr>
          <p:cNvPr id="14" name="Text 11"/>
          <p:cNvSpPr/>
          <p:nvPr/>
        </p:nvSpPr>
        <p:spPr>
          <a:xfrm>
            <a:off x="786384" y="4919472"/>
            <a:ext cx="4133088" cy="603504"/>
          </a:xfrm>
          <a:prstGeom prst="rect">
            <a:avLst/>
          </a:prstGeom>
          <a:noFill/>
          <a:ln/>
        </p:spPr>
        <p:txBody>
          <a:bodyPr wrap="square" lIns="0" tIns="0" rIns="0" bIns="0" rtlCol="0" anchor="t"/>
          <a:lstStyle/>
          <a:p>
            <a:pPr indent="0" marL="0">
              <a:lnSpc>
                <a:spcPts val="1700"/>
              </a:lnSpc>
              <a:buNone/>
            </a:pPr>
            <a:r>
              <a:rPr lang="en-US" sz="1200" i="1" dirty="0">
                <a:solidFill>
                  <a:srgbClr val="EDEAE3"/>
                </a:solidFill>
                <a:latin typeface="Arial" pitchFamily="34" charset="0"/>
                <a:ea typeface="Arial" pitchFamily="34" charset="-122"/>
                <a:cs typeface="Arial" pitchFamily="34" charset="-120"/>
              </a:rPr>
              <a:t>“What do I have to learn before this is useful?”</a:t>
            </a:r>
            <a:endParaRPr lang="en-US" sz="1200" dirty="0"/>
          </a:p>
        </p:txBody>
      </p:sp>
      <p:sp>
        <p:nvSpPr>
          <p:cNvPr id="15" name="Text 12"/>
          <p:cNvSpPr/>
          <p:nvPr/>
        </p:nvSpPr>
        <p:spPr>
          <a:xfrm>
            <a:off x="566928" y="5779008"/>
            <a:ext cx="4572000" cy="219456"/>
          </a:xfrm>
          <a:prstGeom prst="rect">
            <a:avLst/>
          </a:prstGeom>
          <a:noFill/>
          <a:ln/>
        </p:spPr>
        <p:txBody>
          <a:bodyPr wrap="square" lIns="0" tIns="0" rIns="0" bIns="0" rtlCol="0" anchor="t"/>
          <a:lstStyle/>
          <a:p>
            <a:pPr indent="0" marL="0">
              <a:buNone/>
            </a:pPr>
            <a:r>
              <a:rPr lang="en-US" sz="950" dirty="0">
                <a:solidFill>
                  <a:srgbClr val="75706A"/>
                </a:solidFill>
                <a:latin typeface="Arial" pitchFamily="34" charset="0"/>
                <a:ea typeface="Arial" pitchFamily="34" charset="-122"/>
                <a:cs typeface="Arial" pitchFamily="34" charset="-120"/>
              </a:rPr>
              <a:t>F01   ·   F04</a:t>
            </a:r>
            <a:endParaRPr lang="en-US" sz="950" dirty="0"/>
          </a:p>
        </p:txBody>
      </p:sp>
      <p:sp>
        <p:nvSpPr>
          <p:cNvPr id="17" name="Shape 13"/>
          <p:cNvSpPr/>
          <p:nvPr/>
        </p:nvSpPr>
        <p:spPr>
          <a:xfrm>
            <a:off x="566928" y="6345936"/>
            <a:ext cx="11027664" cy="0"/>
          </a:xfrm>
          <a:prstGeom prst="line">
            <a:avLst/>
          </a:prstGeom>
          <a:noFill/>
          <a:ln w="9525">
            <a:solidFill>
              <a:srgbClr val="26262B"/>
            </a:solidFill>
            <a:prstDash val="solid"/>
          </a:ln>
        </p:spPr>
      </p:sp>
      <p:sp>
        <p:nvSpPr>
          <p:cNvPr id="18" name="Text 14"/>
          <p:cNvSpPr/>
          <p:nvPr/>
        </p:nvSpPr>
        <p:spPr>
          <a:xfrm>
            <a:off x="566928" y="6419088"/>
            <a:ext cx="6400800" cy="201168"/>
          </a:xfrm>
          <a:prstGeom prst="rect">
            <a:avLst/>
          </a:prstGeom>
          <a:noFill/>
          <a:ln/>
        </p:spPr>
        <p:txBody>
          <a:bodyPr wrap="square" lIns="0" tIns="0" rIns="0" bIns="0" rtlCol="0" anchor="t"/>
          <a:lstStyle/>
          <a:p>
            <a:pPr indent="0" marL="0">
              <a:buNone/>
            </a:pPr>
            <a:r>
              <a:rPr lang="en-US" sz="900" dirty="0">
                <a:solidFill>
                  <a:srgbClr val="75706A"/>
                </a:solidFill>
                <a:latin typeface="Arial" pitchFamily="34" charset="0"/>
                <a:ea typeface="Arial" pitchFamily="34" charset="-122"/>
                <a:cs typeface="Arial" pitchFamily="34" charset="-120"/>
              </a:rPr>
              <a:t>PXEngine  ·  demo cut  ·  12 minutes</a:t>
            </a:r>
            <a:endParaRPr lang="en-US" sz="900" dirty="0"/>
          </a:p>
        </p:txBody>
      </p:sp>
      <p:sp>
        <p:nvSpPr>
          <p:cNvPr id="19" name="Text 15"/>
          <p:cNvSpPr/>
          <p:nvPr/>
        </p:nvSpPr>
        <p:spPr>
          <a:xfrm>
            <a:off x="11045952" y="6419088"/>
            <a:ext cx="548640" cy="201168"/>
          </a:xfrm>
          <a:prstGeom prst="rect">
            <a:avLst/>
          </a:prstGeom>
          <a:noFill/>
          <a:ln/>
        </p:spPr>
        <p:txBody>
          <a:bodyPr wrap="square" lIns="0" tIns="0" rIns="0" bIns="0" rtlCol="0" anchor="t"/>
          <a:lstStyle/>
          <a:p>
            <a:pPr algn="r" indent="0" marL="0">
              <a:buNone/>
            </a:pPr>
            <a:r>
              <a:rPr lang="en-US" sz="900" dirty="0">
                <a:solidFill>
                  <a:srgbClr val="75706A"/>
                </a:solidFill>
                <a:latin typeface="Arial" pitchFamily="34" charset="0"/>
                <a:ea typeface="Arial" pitchFamily="34" charset="-122"/>
                <a:cs typeface="Arial"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0A0A"/>
        </a:solidFill>
      </p:bgPr>
    </p:bg>
    <p:spTree>
      <p:nvGrpSpPr>
        <p:cNvPr id="1" name=""/>
        <p:cNvGrpSpPr/>
        <p:nvPr/>
      </p:nvGrpSpPr>
      <p:grpSpPr>
        <a:xfrm>
          <a:off x="0" y="0"/>
          <a:ext cx="0" cy="0"/>
          <a:chOff x="0" y="0"/>
          <a:chExt cx="0" cy="0"/>
        </a:xfrm>
      </p:grpSpPr>
      <p:sp>
        <p:nvSpPr>
          <p:cNvPr id="2" name="Text 0"/>
          <p:cNvSpPr/>
          <p:nvPr/>
        </p:nvSpPr>
        <p:spPr>
          <a:xfrm>
            <a:off x="566928" y="365760"/>
            <a:ext cx="11027664" cy="182880"/>
          </a:xfrm>
          <a:prstGeom prst="rect">
            <a:avLst/>
          </a:prstGeom>
          <a:noFill/>
          <a:ln/>
        </p:spPr>
        <p:txBody>
          <a:bodyPr wrap="square" lIns="0" tIns="0" rIns="0" bIns="0" rtlCol="0" anchor="t"/>
          <a:lstStyle/>
          <a:p>
            <a:pPr indent="0" marL="0">
              <a:buNone/>
            </a:pPr>
            <a:r>
              <a:rPr lang="en-US" sz="1000" b="1" spc="220" kern="0" dirty="0">
                <a:solidFill>
                  <a:srgbClr val="CBB78A"/>
                </a:solidFill>
                <a:latin typeface="Arial" pitchFamily="34" charset="0"/>
                <a:ea typeface="Arial" pitchFamily="34" charset="-122"/>
                <a:cs typeface="Arial" pitchFamily="34" charset="-120"/>
              </a:rPr>
              <a:t>STAGE 2 OF 7  ·  2 MIN  ·  DOCUMENTATION STEP 3.3</a:t>
            </a:r>
            <a:endParaRPr lang="en-US" sz="1000" dirty="0"/>
          </a:p>
        </p:txBody>
      </p:sp>
      <p:sp>
        <p:nvSpPr>
          <p:cNvPr id="3" name="Text 1"/>
          <p:cNvSpPr/>
          <p:nvPr/>
        </p:nvSpPr>
        <p:spPr>
          <a:xfrm>
            <a:off x="566928" y="585216"/>
            <a:ext cx="11027664" cy="457200"/>
          </a:xfrm>
          <a:prstGeom prst="rect">
            <a:avLst/>
          </a:prstGeom>
          <a:noFill/>
          <a:ln/>
        </p:spPr>
        <p:txBody>
          <a:bodyPr wrap="square" lIns="0" tIns="0" rIns="0" bIns="0" rtlCol="0" anchor="t"/>
          <a:lstStyle/>
          <a:p>
            <a:pPr indent="0" marL="0">
              <a:buNone/>
            </a:pPr>
            <a:r>
              <a:rPr lang="en-US" sz="2600" b="1" dirty="0">
                <a:solidFill>
                  <a:srgbClr val="EDEAE3"/>
                </a:solidFill>
                <a:latin typeface="Arial" pitchFamily="34" charset="0"/>
                <a:ea typeface="Arial" pitchFamily="34" charset="-122"/>
                <a:cs typeface="Arial" pitchFamily="34" charset="-120"/>
              </a:rPr>
              <a:t>It checks the data first</a:t>
            </a:r>
            <a:endParaRPr lang="en-US" sz="2600" dirty="0"/>
          </a:p>
        </p:txBody>
      </p:sp>
      <p:sp>
        <p:nvSpPr>
          <p:cNvPr id="4" name="Text 2"/>
          <p:cNvSpPr/>
          <p:nvPr/>
        </p:nvSpPr>
        <p:spPr>
          <a:xfrm>
            <a:off x="566928" y="1097280"/>
            <a:ext cx="10661904" cy="237744"/>
          </a:xfrm>
          <a:prstGeom prst="rect">
            <a:avLst/>
          </a:prstGeom>
          <a:noFill/>
          <a:ln/>
        </p:spPr>
        <p:txBody>
          <a:bodyPr wrap="square" lIns="0" tIns="0" rIns="0" bIns="0" rtlCol="0" anchor="t"/>
          <a:lstStyle/>
          <a:p>
            <a:pPr indent="0" marL="0">
              <a:buNone/>
            </a:pPr>
            <a:r>
              <a:rPr lang="en-US" sz="1100" b="1" dirty="0">
                <a:solidFill>
                  <a:srgbClr val="CBB78A"/>
                </a:solidFill>
                <a:latin typeface="Arial" pitchFamily="34" charset="0"/>
                <a:ea typeface="Arial" pitchFamily="34" charset="-122"/>
                <a:cs typeface="Arial" pitchFamily="34" charset="-120"/>
              </a:rPr>
              <a:t>DEMO — Panda Express Monthly Report</a:t>
            </a:r>
            <a:pPr indent="0" marL="0">
              <a:buNone/>
            </a:pPr>
            <a:r>
              <a:rPr lang="en-US" sz="1100" dirty="0">
                <a:solidFill>
                  <a:srgbClr val="75706A"/>
                </a:solidFill>
                <a:latin typeface="Arial" pitchFamily="34" charset="0"/>
                <a:ea typeface="Arial" pitchFamily="34" charset="-122"/>
                <a:cs typeface="Arial" pitchFamily="34" charset="-120"/>
              </a:rPr>
              <a:t>   open it</a:t>
            </a:r>
            <a:endParaRPr lang="en-US" sz="1100" dirty="0"/>
          </a:p>
        </p:txBody>
      </p:sp>
      <p:pic>
        <p:nvPicPr>
          <p:cNvPr id="5" name="Image 0" descr="preencoded.png">    </p:cNvPr>
          <p:cNvPicPr>
            <a:picLocks noChangeAspect="1"/>
          </p:cNvPicPr>
          <p:nvPr/>
        </p:nvPicPr>
        <p:blipFill>
          <a:blip r:embed="rId1"/>
          <a:stretch>
            <a:fillRect/>
          </a:stretch>
        </p:blipFill>
        <p:spPr>
          <a:xfrm>
            <a:off x="5541264" y="1627632"/>
            <a:ext cx="6053328" cy="3404997"/>
          </a:xfrm>
          <a:prstGeom prst="rect">
            <a:avLst/>
          </a:prstGeom>
        </p:spPr>
      </p:pic>
      <p:sp>
        <p:nvSpPr>
          <p:cNvPr id="6" name="Shape 3"/>
          <p:cNvSpPr/>
          <p:nvPr/>
        </p:nvSpPr>
        <p:spPr>
          <a:xfrm>
            <a:off x="5541264" y="1627632"/>
            <a:ext cx="6053328" cy="3404997"/>
          </a:xfrm>
          <a:prstGeom prst="rect">
            <a:avLst/>
          </a:prstGeom>
          <a:ln w="9525">
            <a:solidFill>
              <a:srgbClr val="26262B"/>
            </a:solidFill>
            <a:prstDash val="solid"/>
          </a:ln>
        </p:spPr>
      </p:sp>
      <p:sp>
        <p:nvSpPr>
          <p:cNvPr id="7" name="Text 4"/>
          <p:cNvSpPr/>
          <p:nvPr/>
        </p:nvSpPr>
        <p:spPr>
          <a:xfrm>
            <a:off x="5541264" y="5142357"/>
            <a:ext cx="6053328" cy="201168"/>
          </a:xfrm>
          <a:prstGeom prst="rect">
            <a:avLst/>
          </a:prstGeom>
          <a:noFill/>
          <a:ln/>
        </p:spPr>
        <p:txBody>
          <a:bodyPr wrap="square" lIns="0" tIns="0" rIns="0" bIns="0" rtlCol="0" anchor="t"/>
          <a:lstStyle/>
          <a:p>
            <a:pPr indent="0" marL="0">
              <a:buNone/>
            </a:pPr>
            <a:r>
              <a:rPr lang="en-US" sz="900" dirty="0">
                <a:solidFill>
                  <a:srgbClr val="75706A"/>
                </a:solidFill>
                <a:latin typeface="Arial" pitchFamily="34" charset="0"/>
                <a:ea typeface="Arial" pitchFamily="34" charset="-122"/>
                <a:cs typeface="Arial" pitchFamily="34" charset="-120"/>
              </a:rPr>
              <a:t>Documentation figure 3.3</a:t>
            </a:r>
            <a:endParaRPr lang="en-US" sz="900" dirty="0"/>
          </a:p>
        </p:txBody>
      </p:sp>
      <p:sp>
        <p:nvSpPr>
          <p:cNvPr id="8" name="Text 5"/>
          <p:cNvSpPr/>
          <p:nvPr/>
        </p:nvSpPr>
        <p:spPr>
          <a:xfrm>
            <a:off x="566928" y="1664208"/>
            <a:ext cx="2743200" cy="164592"/>
          </a:xfrm>
          <a:prstGeom prst="rect">
            <a:avLst/>
          </a:prstGeom>
          <a:noFill/>
          <a:ln/>
        </p:spPr>
        <p:txBody>
          <a:bodyPr wrap="square" lIns="0" tIns="0" rIns="0" bIns="0" rtlCol="0" anchor="t"/>
          <a:lstStyle/>
          <a:p>
            <a:pPr indent="0" marL="0">
              <a:buNone/>
            </a:pPr>
            <a:r>
              <a:rPr lang="en-US" sz="850" b="1" spc="160" kern="0" dirty="0">
                <a:solidFill>
                  <a:srgbClr val="75706A"/>
                </a:solidFill>
                <a:latin typeface="Arial" pitchFamily="34" charset="0"/>
                <a:ea typeface="Arial" pitchFamily="34" charset="-122"/>
                <a:cs typeface="Arial" pitchFamily="34" charset="-120"/>
              </a:rPr>
              <a:t>SHOW</a:t>
            </a:r>
            <a:endParaRPr lang="en-US" sz="850" dirty="0"/>
          </a:p>
        </p:txBody>
      </p:sp>
      <p:sp>
        <p:nvSpPr>
          <p:cNvPr id="9" name="Text 6"/>
          <p:cNvSpPr/>
          <p:nvPr/>
        </p:nvSpPr>
        <p:spPr>
          <a:xfrm>
            <a:off x="566928" y="1865376"/>
            <a:ext cx="4572000" cy="731520"/>
          </a:xfrm>
          <a:prstGeom prst="rect">
            <a:avLst/>
          </a:prstGeom>
          <a:noFill/>
          <a:ln/>
        </p:spPr>
        <p:txBody>
          <a:bodyPr wrap="square" lIns="0" tIns="0" rIns="0" bIns="0" rtlCol="0" anchor="t"/>
          <a:lstStyle/>
          <a:p>
            <a:pPr indent="0" marL="0">
              <a:lnSpc>
                <a:spcPts val="1900"/>
              </a:lnSpc>
              <a:buNone/>
            </a:pPr>
            <a:r>
              <a:rPr lang="en-US" sz="1300" dirty="0">
                <a:solidFill>
                  <a:srgbClr val="EDEAE3"/>
                </a:solidFill>
                <a:latin typeface="Arial" pitchFamily="34" charset="0"/>
                <a:ea typeface="Arial" pitchFamily="34" charset="-122"/>
                <a:cs typeface="Arial" pitchFamily="34" charset="-120"/>
              </a:rPr>
              <a:t>Top of the thread: the date-range query, then the agent’s response.</a:t>
            </a:r>
            <a:endParaRPr lang="en-US" sz="1300" dirty="0"/>
          </a:p>
        </p:txBody>
      </p:sp>
      <p:sp>
        <p:nvSpPr>
          <p:cNvPr id="10" name="Text 7"/>
          <p:cNvSpPr/>
          <p:nvPr/>
        </p:nvSpPr>
        <p:spPr>
          <a:xfrm>
            <a:off x="566928" y="2743200"/>
            <a:ext cx="2743200" cy="164592"/>
          </a:xfrm>
          <a:prstGeom prst="rect">
            <a:avLst/>
          </a:prstGeom>
          <a:noFill/>
          <a:ln/>
        </p:spPr>
        <p:txBody>
          <a:bodyPr wrap="square" lIns="0" tIns="0" rIns="0" bIns="0" rtlCol="0" anchor="t"/>
          <a:lstStyle/>
          <a:p>
            <a:pPr indent="0" marL="0">
              <a:buNone/>
            </a:pPr>
            <a:r>
              <a:rPr lang="en-US" sz="850" b="1" spc="160" kern="0" dirty="0">
                <a:solidFill>
                  <a:srgbClr val="75706A"/>
                </a:solidFill>
                <a:latin typeface="Arial" pitchFamily="34" charset="0"/>
                <a:ea typeface="Arial" pitchFamily="34" charset="-122"/>
                <a:cs typeface="Arial" pitchFamily="34" charset="-120"/>
              </a:rPr>
              <a:t>EXPLAIN</a:t>
            </a:r>
            <a:endParaRPr lang="en-US" sz="850" dirty="0"/>
          </a:p>
        </p:txBody>
      </p:sp>
      <p:sp>
        <p:nvSpPr>
          <p:cNvPr id="11" name="Text 8"/>
          <p:cNvSpPr/>
          <p:nvPr/>
        </p:nvSpPr>
        <p:spPr>
          <a:xfrm>
            <a:off x="566928" y="2944368"/>
            <a:ext cx="4572000" cy="1463040"/>
          </a:xfrm>
          <a:prstGeom prst="rect">
            <a:avLst/>
          </a:prstGeom>
          <a:noFill/>
          <a:ln/>
        </p:spPr>
        <p:txBody>
          <a:bodyPr wrap="square" lIns="0" tIns="0" rIns="0" bIns="0" rtlCol="0" anchor="t"/>
          <a:lstStyle/>
          <a:p>
            <a:pPr indent="0" marL="0">
              <a:lnSpc>
                <a:spcPts val="1900"/>
              </a:lnSpc>
              <a:buNone/>
            </a:pPr>
            <a:r>
              <a:rPr lang="en-US" sz="1250" dirty="0">
                <a:solidFill>
                  <a:srgbClr val="A8A39B"/>
                </a:solidFill>
                <a:latin typeface="Arial" pitchFamily="34" charset="0"/>
                <a:ea typeface="Arial" pitchFamily="34" charset="-122"/>
                <a:cs typeface="Arial" pitchFamily="34" charset="-120"/>
              </a:rPr>
              <a:t>The agent establishes what data exists before answering, and states the limit in the thread. Asked for July, it reported the set ends 22 June and built June instead.</a:t>
            </a:r>
            <a:endParaRPr lang="en-US" sz="1250" dirty="0"/>
          </a:p>
        </p:txBody>
      </p:sp>
      <p:sp>
        <p:nvSpPr>
          <p:cNvPr id="12" name="Shape 9"/>
          <p:cNvSpPr/>
          <p:nvPr/>
        </p:nvSpPr>
        <p:spPr>
          <a:xfrm>
            <a:off x="566928" y="4517136"/>
            <a:ext cx="4572000" cy="1097280"/>
          </a:xfrm>
          <a:prstGeom prst="roundRect">
            <a:avLst>
              <a:gd name="adj" fmla="val 5000"/>
            </a:avLst>
          </a:prstGeom>
          <a:solidFill>
            <a:srgbClr val="1C1913"/>
          </a:solidFill>
          <a:ln w="9525">
            <a:solidFill>
              <a:srgbClr val="4A422F"/>
            </a:solidFill>
            <a:prstDash val="solid"/>
          </a:ln>
        </p:spPr>
      </p:sp>
      <p:sp>
        <p:nvSpPr>
          <p:cNvPr id="13" name="Text 10"/>
          <p:cNvSpPr/>
          <p:nvPr/>
        </p:nvSpPr>
        <p:spPr>
          <a:xfrm>
            <a:off x="786384" y="4700016"/>
            <a:ext cx="2743200" cy="164592"/>
          </a:xfrm>
          <a:prstGeom prst="rect">
            <a:avLst/>
          </a:prstGeom>
          <a:noFill/>
          <a:ln/>
        </p:spPr>
        <p:txBody>
          <a:bodyPr wrap="square" lIns="0" tIns="0" rIns="0" bIns="0" rtlCol="0" anchor="t"/>
          <a:lstStyle/>
          <a:p>
            <a:pPr indent="0" marL="0">
              <a:buNone/>
            </a:pPr>
            <a:r>
              <a:rPr lang="en-US" sz="850" b="1" spc="160" kern="0" dirty="0">
                <a:solidFill>
                  <a:srgbClr val="CBB78A"/>
                </a:solidFill>
                <a:latin typeface="Arial" pitchFamily="34" charset="0"/>
                <a:ea typeface="Arial" pitchFamily="34" charset="-122"/>
                <a:cs typeface="Arial" pitchFamily="34" charset="-120"/>
              </a:rPr>
              <a:t>ANSWERS</a:t>
            </a:r>
            <a:endParaRPr lang="en-US" sz="850" dirty="0"/>
          </a:p>
        </p:txBody>
      </p:sp>
      <p:sp>
        <p:nvSpPr>
          <p:cNvPr id="14" name="Text 11"/>
          <p:cNvSpPr/>
          <p:nvPr/>
        </p:nvSpPr>
        <p:spPr>
          <a:xfrm>
            <a:off x="786384" y="4919472"/>
            <a:ext cx="4133088" cy="603504"/>
          </a:xfrm>
          <a:prstGeom prst="rect">
            <a:avLst/>
          </a:prstGeom>
          <a:noFill/>
          <a:ln/>
        </p:spPr>
        <p:txBody>
          <a:bodyPr wrap="square" lIns="0" tIns="0" rIns="0" bIns="0" rtlCol="0" anchor="t"/>
          <a:lstStyle/>
          <a:p>
            <a:pPr indent="0" marL="0">
              <a:lnSpc>
                <a:spcPts val="1700"/>
              </a:lnSpc>
              <a:buNone/>
            </a:pPr>
            <a:r>
              <a:rPr lang="en-US" sz="1200" i="1" dirty="0">
                <a:solidFill>
                  <a:srgbClr val="EDEAE3"/>
                </a:solidFill>
                <a:latin typeface="Arial" pitchFamily="34" charset="0"/>
                <a:ea typeface="Arial" pitchFamily="34" charset="-122"/>
                <a:cs typeface="Arial" pitchFamily="34" charset="-120"/>
              </a:rPr>
              <a:t>“What happens when the data isn’t there?”</a:t>
            </a:r>
            <a:endParaRPr lang="en-US" sz="1200" dirty="0"/>
          </a:p>
        </p:txBody>
      </p:sp>
      <p:sp>
        <p:nvSpPr>
          <p:cNvPr id="15" name="Text 12"/>
          <p:cNvSpPr/>
          <p:nvPr/>
        </p:nvSpPr>
        <p:spPr>
          <a:xfrm>
            <a:off x="566928" y="5779008"/>
            <a:ext cx="4572000" cy="219456"/>
          </a:xfrm>
          <a:prstGeom prst="rect">
            <a:avLst/>
          </a:prstGeom>
          <a:noFill/>
          <a:ln/>
        </p:spPr>
        <p:txBody>
          <a:bodyPr wrap="square" lIns="0" tIns="0" rIns="0" bIns="0" rtlCol="0" anchor="t"/>
          <a:lstStyle/>
          <a:p>
            <a:pPr indent="0" marL="0">
              <a:buNone/>
            </a:pPr>
            <a:r>
              <a:rPr lang="en-US" sz="950" dirty="0">
                <a:solidFill>
                  <a:srgbClr val="75706A"/>
                </a:solidFill>
                <a:latin typeface="Arial" pitchFamily="34" charset="0"/>
                <a:ea typeface="Arial" pitchFamily="34" charset="-122"/>
                <a:cs typeface="Arial" pitchFamily="34" charset="-120"/>
              </a:rPr>
              <a:t>F10   ·   F11   ·   F15</a:t>
            </a:r>
            <a:endParaRPr lang="en-US" sz="950" dirty="0"/>
          </a:p>
        </p:txBody>
      </p:sp>
      <p:sp>
        <p:nvSpPr>
          <p:cNvPr id="17" name="Shape 13"/>
          <p:cNvSpPr/>
          <p:nvPr/>
        </p:nvSpPr>
        <p:spPr>
          <a:xfrm>
            <a:off x="566928" y="6345936"/>
            <a:ext cx="11027664" cy="0"/>
          </a:xfrm>
          <a:prstGeom prst="line">
            <a:avLst/>
          </a:prstGeom>
          <a:noFill/>
          <a:ln w="9525">
            <a:solidFill>
              <a:srgbClr val="26262B"/>
            </a:solidFill>
            <a:prstDash val="solid"/>
          </a:ln>
        </p:spPr>
      </p:sp>
      <p:sp>
        <p:nvSpPr>
          <p:cNvPr id="18" name="Text 14"/>
          <p:cNvSpPr/>
          <p:nvPr/>
        </p:nvSpPr>
        <p:spPr>
          <a:xfrm>
            <a:off x="566928" y="6419088"/>
            <a:ext cx="6400800" cy="201168"/>
          </a:xfrm>
          <a:prstGeom prst="rect">
            <a:avLst/>
          </a:prstGeom>
          <a:noFill/>
          <a:ln/>
        </p:spPr>
        <p:txBody>
          <a:bodyPr wrap="square" lIns="0" tIns="0" rIns="0" bIns="0" rtlCol="0" anchor="t"/>
          <a:lstStyle/>
          <a:p>
            <a:pPr indent="0" marL="0">
              <a:buNone/>
            </a:pPr>
            <a:r>
              <a:rPr lang="en-US" sz="900" dirty="0">
                <a:solidFill>
                  <a:srgbClr val="75706A"/>
                </a:solidFill>
                <a:latin typeface="Arial" pitchFamily="34" charset="0"/>
                <a:ea typeface="Arial" pitchFamily="34" charset="-122"/>
                <a:cs typeface="Arial" pitchFamily="34" charset="-120"/>
              </a:rPr>
              <a:t>PXEngine  ·  demo cut  ·  12 minutes</a:t>
            </a:r>
            <a:endParaRPr lang="en-US" sz="900" dirty="0"/>
          </a:p>
        </p:txBody>
      </p:sp>
      <p:sp>
        <p:nvSpPr>
          <p:cNvPr id="19" name="Text 15"/>
          <p:cNvSpPr/>
          <p:nvPr/>
        </p:nvSpPr>
        <p:spPr>
          <a:xfrm>
            <a:off x="11045952" y="6419088"/>
            <a:ext cx="548640" cy="201168"/>
          </a:xfrm>
          <a:prstGeom prst="rect">
            <a:avLst/>
          </a:prstGeom>
          <a:noFill/>
          <a:ln/>
        </p:spPr>
        <p:txBody>
          <a:bodyPr wrap="square" lIns="0" tIns="0" rIns="0" bIns="0" rtlCol="0" anchor="t"/>
          <a:lstStyle/>
          <a:p>
            <a:pPr algn="r" indent="0" marL="0">
              <a:buNone/>
            </a:pPr>
            <a:r>
              <a:rPr lang="en-US" sz="900" dirty="0">
                <a:solidFill>
                  <a:srgbClr val="75706A"/>
                </a:solidFill>
                <a:latin typeface="Arial" pitchFamily="34" charset="0"/>
                <a:ea typeface="Arial" pitchFamily="34" charset="-122"/>
                <a:cs typeface="Arial"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0A0A"/>
        </a:solidFill>
      </p:bgPr>
    </p:bg>
    <p:spTree>
      <p:nvGrpSpPr>
        <p:cNvPr id="1" name=""/>
        <p:cNvGrpSpPr/>
        <p:nvPr/>
      </p:nvGrpSpPr>
      <p:grpSpPr>
        <a:xfrm>
          <a:off x="0" y="0"/>
          <a:ext cx="0" cy="0"/>
          <a:chOff x="0" y="0"/>
          <a:chExt cx="0" cy="0"/>
        </a:xfrm>
      </p:grpSpPr>
      <p:sp>
        <p:nvSpPr>
          <p:cNvPr id="2" name="Text 0"/>
          <p:cNvSpPr/>
          <p:nvPr/>
        </p:nvSpPr>
        <p:spPr>
          <a:xfrm>
            <a:off x="566928" y="365760"/>
            <a:ext cx="11027664" cy="182880"/>
          </a:xfrm>
          <a:prstGeom prst="rect">
            <a:avLst/>
          </a:prstGeom>
          <a:noFill/>
          <a:ln/>
        </p:spPr>
        <p:txBody>
          <a:bodyPr wrap="square" lIns="0" tIns="0" rIns="0" bIns="0" rtlCol="0" anchor="t"/>
          <a:lstStyle/>
          <a:p>
            <a:pPr indent="0" marL="0">
              <a:buNone/>
            </a:pPr>
            <a:r>
              <a:rPr lang="en-US" sz="1000" b="1" spc="220" kern="0" dirty="0">
                <a:solidFill>
                  <a:srgbClr val="CBB78A"/>
                </a:solidFill>
                <a:latin typeface="Arial" pitchFamily="34" charset="0"/>
                <a:ea typeface="Arial" pitchFamily="34" charset="-122"/>
                <a:cs typeface="Arial" pitchFamily="34" charset="-120"/>
              </a:rPr>
              <a:t>STAGE 3 OF 7  ·  2 MIN  ·  DOCUMENTATION STEP 3.5</a:t>
            </a:r>
            <a:endParaRPr lang="en-US" sz="1000" dirty="0"/>
          </a:p>
        </p:txBody>
      </p:sp>
      <p:sp>
        <p:nvSpPr>
          <p:cNvPr id="3" name="Text 1"/>
          <p:cNvSpPr/>
          <p:nvPr/>
        </p:nvSpPr>
        <p:spPr>
          <a:xfrm>
            <a:off x="566928" y="585216"/>
            <a:ext cx="11027664" cy="457200"/>
          </a:xfrm>
          <a:prstGeom prst="rect">
            <a:avLst/>
          </a:prstGeom>
          <a:noFill/>
          <a:ln/>
        </p:spPr>
        <p:txBody>
          <a:bodyPr wrap="square" lIns="0" tIns="0" rIns="0" bIns="0" rtlCol="0" anchor="t"/>
          <a:lstStyle/>
          <a:p>
            <a:pPr indent="0" marL="0">
              <a:buNone/>
            </a:pPr>
            <a:r>
              <a:rPr lang="en-US" sz="2600" b="1" dirty="0">
                <a:solidFill>
                  <a:srgbClr val="EDEAE3"/>
                </a:solidFill>
                <a:latin typeface="Arial" pitchFamily="34" charset="0"/>
                <a:ea typeface="Arial" pitchFamily="34" charset="-122"/>
                <a:cs typeface="Arial" pitchFamily="34" charset="-120"/>
              </a:rPr>
              <a:t>Approve the structure</a:t>
            </a:r>
            <a:endParaRPr lang="en-US" sz="2600" dirty="0"/>
          </a:p>
        </p:txBody>
      </p:sp>
      <p:sp>
        <p:nvSpPr>
          <p:cNvPr id="4" name="Text 2"/>
          <p:cNvSpPr/>
          <p:nvPr/>
        </p:nvSpPr>
        <p:spPr>
          <a:xfrm>
            <a:off x="566928" y="1097280"/>
            <a:ext cx="10661904" cy="237744"/>
          </a:xfrm>
          <a:prstGeom prst="rect">
            <a:avLst/>
          </a:prstGeom>
          <a:noFill/>
          <a:ln/>
        </p:spPr>
        <p:txBody>
          <a:bodyPr wrap="square" lIns="0" tIns="0" rIns="0" bIns="0" rtlCol="0" anchor="t"/>
          <a:lstStyle/>
          <a:p>
            <a:pPr indent="0" marL="0">
              <a:buNone/>
            </a:pPr>
            <a:r>
              <a:rPr lang="en-US" sz="1100" b="1" dirty="0">
                <a:solidFill>
                  <a:srgbClr val="CBB78A"/>
                </a:solidFill>
                <a:latin typeface="Arial" pitchFamily="34" charset="0"/>
                <a:ea typeface="Arial" pitchFamily="34" charset="-122"/>
                <a:cs typeface="Arial" pitchFamily="34" charset="-120"/>
              </a:rPr>
              <a:t>DEMO — Panda Express Monthly Report</a:t>
            </a:r>
            <a:pPr indent="0" marL="0">
              <a:buNone/>
            </a:pPr>
            <a:r>
              <a:rPr lang="en-US" sz="1100" dirty="0">
                <a:solidFill>
                  <a:srgbClr val="75706A"/>
                </a:solidFill>
                <a:latin typeface="Arial" pitchFamily="34" charset="0"/>
                <a:ea typeface="Arial" pitchFamily="34" charset="-122"/>
                <a:cs typeface="Arial" pitchFamily="34" charset="-120"/>
              </a:rPr>
              <a:t>   same thread</a:t>
            </a:r>
            <a:endParaRPr lang="en-US" sz="1100" dirty="0"/>
          </a:p>
        </p:txBody>
      </p:sp>
      <p:pic>
        <p:nvPicPr>
          <p:cNvPr id="5" name="Image 0" descr="preencoded.png">    </p:cNvPr>
          <p:cNvPicPr>
            <a:picLocks noChangeAspect="1"/>
          </p:cNvPicPr>
          <p:nvPr/>
        </p:nvPicPr>
        <p:blipFill>
          <a:blip r:embed="rId1"/>
          <a:stretch>
            <a:fillRect/>
          </a:stretch>
        </p:blipFill>
        <p:spPr>
          <a:xfrm>
            <a:off x="5541264" y="1627632"/>
            <a:ext cx="6053328" cy="3404997"/>
          </a:xfrm>
          <a:prstGeom prst="rect">
            <a:avLst/>
          </a:prstGeom>
        </p:spPr>
      </p:pic>
      <p:sp>
        <p:nvSpPr>
          <p:cNvPr id="6" name="Shape 3"/>
          <p:cNvSpPr/>
          <p:nvPr/>
        </p:nvSpPr>
        <p:spPr>
          <a:xfrm>
            <a:off x="5541264" y="1627632"/>
            <a:ext cx="6053328" cy="3404997"/>
          </a:xfrm>
          <a:prstGeom prst="rect">
            <a:avLst/>
          </a:prstGeom>
          <a:ln w="9525">
            <a:solidFill>
              <a:srgbClr val="26262B"/>
            </a:solidFill>
            <a:prstDash val="solid"/>
          </a:ln>
        </p:spPr>
      </p:sp>
      <p:sp>
        <p:nvSpPr>
          <p:cNvPr id="7" name="Text 4"/>
          <p:cNvSpPr/>
          <p:nvPr/>
        </p:nvSpPr>
        <p:spPr>
          <a:xfrm>
            <a:off x="5541264" y="5142357"/>
            <a:ext cx="6053328" cy="201168"/>
          </a:xfrm>
          <a:prstGeom prst="rect">
            <a:avLst/>
          </a:prstGeom>
          <a:noFill/>
          <a:ln/>
        </p:spPr>
        <p:txBody>
          <a:bodyPr wrap="square" lIns="0" tIns="0" rIns="0" bIns="0" rtlCol="0" anchor="t"/>
          <a:lstStyle/>
          <a:p>
            <a:pPr indent="0" marL="0">
              <a:buNone/>
            </a:pPr>
            <a:r>
              <a:rPr lang="en-US" sz="900" dirty="0">
                <a:solidFill>
                  <a:srgbClr val="75706A"/>
                </a:solidFill>
                <a:latin typeface="Arial" pitchFamily="34" charset="0"/>
                <a:ea typeface="Arial" pitchFamily="34" charset="-122"/>
                <a:cs typeface="Arial" pitchFamily="34" charset="-120"/>
              </a:rPr>
              <a:t>Documentation figure 3.5</a:t>
            </a:r>
            <a:endParaRPr lang="en-US" sz="900" dirty="0"/>
          </a:p>
        </p:txBody>
      </p:sp>
      <p:sp>
        <p:nvSpPr>
          <p:cNvPr id="8" name="Text 5"/>
          <p:cNvSpPr/>
          <p:nvPr/>
        </p:nvSpPr>
        <p:spPr>
          <a:xfrm>
            <a:off x="566928" y="1664208"/>
            <a:ext cx="2743200" cy="164592"/>
          </a:xfrm>
          <a:prstGeom prst="rect">
            <a:avLst/>
          </a:prstGeom>
          <a:noFill/>
          <a:ln/>
        </p:spPr>
        <p:txBody>
          <a:bodyPr wrap="square" lIns="0" tIns="0" rIns="0" bIns="0" rtlCol="0" anchor="t"/>
          <a:lstStyle/>
          <a:p>
            <a:pPr indent="0" marL="0">
              <a:buNone/>
            </a:pPr>
            <a:r>
              <a:rPr lang="en-US" sz="850" b="1" spc="160" kern="0" dirty="0">
                <a:solidFill>
                  <a:srgbClr val="75706A"/>
                </a:solidFill>
                <a:latin typeface="Arial" pitchFamily="34" charset="0"/>
                <a:ea typeface="Arial" pitchFamily="34" charset="-122"/>
                <a:cs typeface="Arial" pitchFamily="34" charset="-120"/>
              </a:rPr>
              <a:t>SHOW</a:t>
            </a:r>
            <a:endParaRPr lang="en-US" sz="850" dirty="0"/>
          </a:p>
        </p:txBody>
      </p:sp>
      <p:sp>
        <p:nvSpPr>
          <p:cNvPr id="9" name="Text 6"/>
          <p:cNvSpPr/>
          <p:nvPr/>
        </p:nvSpPr>
        <p:spPr>
          <a:xfrm>
            <a:off x="566928" y="1865376"/>
            <a:ext cx="4572000" cy="731520"/>
          </a:xfrm>
          <a:prstGeom prst="rect">
            <a:avLst/>
          </a:prstGeom>
          <a:noFill/>
          <a:ln/>
        </p:spPr>
        <p:txBody>
          <a:bodyPr wrap="square" lIns="0" tIns="0" rIns="0" bIns="0" rtlCol="0" anchor="t"/>
          <a:lstStyle/>
          <a:p>
            <a:pPr indent="0" marL="0">
              <a:lnSpc>
                <a:spcPts val="1900"/>
              </a:lnSpc>
              <a:buNone/>
            </a:pPr>
            <a:r>
              <a:rPr lang="en-US" sz="1300" dirty="0">
                <a:solidFill>
                  <a:srgbClr val="EDEAE3"/>
                </a:solidFill>
                <a:latin typeface="Arial" pitchFamily="34" charset="0"/>
                <a:ea typeface="Arial" pitchFamily="34" charset="-122"/>
                <a:cs typeface="Arial" pitchFamily="34" charset="-120"/>
              </a:rPr>
              <a:t>The outline card. Edit a heading, exclude a finding, reorder two rows.</a:t>
            </a:r>
            <a:endParaRPr lang="en-US" sz="1300" dirty="0"/>
          </a:p>
        </p:txBody>
      </p:sp>
      <p:sp>
        <p:nvSpPr>
          <p:cNvPr id="10" name="Text 7"/>
          <p:cNvSpPr/>
          <p:nvPr/>
        </p:nvSpPr>
        <p:spPr>
          <a:xfrm>
            <a:off x="566928" y="2743200"/>
            <a:ext cx="2743200" cy="164592"/>
          </a:xfrm>
          <a:prstGeom prst="rect">
            <a:avLst/>
          </a:prstGeom>
          <a:noFill/>
          <a:ln/>
        </p:spPr>
        <p:txBody>
          <a:bodyPr wrap="square" lIns="0" tIns="0" rIns="0" bIns="0" rtlCol="0" anchor="t"/>
          <a:lstStyle/>
          <a:p>
            <a:pPr indent="0" marL="0">
              <a:buNone/>
            </a:pPr>
            <a:r>
              <a:rPr lang="en-US" sz="850" b="1" spc="160" kern="0" dirty="0">
                <a:solidFill>
                  <a:srgbClr val="75706A"/>
                </a:solidFill>
                <a:latin typeface="Arial" pitchFamily="34" charset="0"/>
                <a:ea typeface="Arial" pitchFamily="34" charset="-122"/>
                <a:cs typeface="Arial" pitchFamily="34" charset="-120"/>
              </a:rPr>
              <a:t>EXPLAIN</a:t>
            </a:r>
            <a:endParaRPr lang="en-US" sz="850" dirty="0"/>
          </a:p>
        </p:txBody>
      </p:sp>
      <p:sp>
        <p:nvSpPr>
          <p:cNvPr id="11" name="Text 8"/>
          <p:cNvSpPr/>
          <p:nvPr/>
        </p:nvSpPr>
        <p:spPr>
          <a:xfrm>
            <a:off x="566928" y="2944368"/>
            <a:ext cx="4572000" cy="1463040"/>
          </a:xfrm>
          <a:prstGeom prst="rect">
            <a:avLst/>
          </a:prstGeom>
          <a:noFill/>
          <a:ln/>
        </p:spPr>
        <p:txBody>
          <a:bodyPr wrap="square" lIns="0" tIns="0" rIns="0" bIns="0" rtlCol="0" anchor="t"/>
          <a:lstStyle/>
          <a:p>
            <a:pPr indent="0" marL="0">
              <a:lnSpc>
                <a:spcPts val="1900"/>
              </a:lnSpc>
              <a:buNone/>
            </a:pPr>
            <a:r>
              <a:rPr lang="en-US" sz="1250" dirty="0">
                <a:solidFill>
                  <a:srgbClr val="A8A39B"/>
                </a:solidFill>
                <a:latin typeface="Arial" pitchFamily="34" charset="0"/>
                <a:ea typeface="Arial" pitchFamily="34" charset="-122"/>
                <a:cs typeface="Arial" pitchFamily="34" charset="-120"/>
              </a:rPr>
              <a:t>Structure is proposed and approved before anything renders. One control governs both cost and quality — a wrong shape is caught in seconds rather than after a full run.</a:t>
            </a:r>
            <a:endParaRPr lang="en-US" sz="1250" dirty="0"/>
          </a:p>
        </p:txBody>
      </p:sp>
      <p:sp>
        <p:nvSpPr>
          <p:cNvPr id="12" name="Shape 9"/>
          <p:cNvSpPr/>
          <p:nvPr/>
        </p:nvSpPr>
        <p:spPr>
          <a:xfrm>
            <a:off x="566928" y="4517136"/>
            <a:ext cx="4572000" cy="1097280"/>
          </a:xfrm>
          <a:prstGeom prst="roundRect">
            <a:avLst>
              <a:gd name="adj" fmla="val 5000"/>
            </a:avLst>
          </a:prstGeom>
          <a:solidFill>
            <a:srgbClr val="1C1913"/>
          </a:solidFill>
          <a:ln w="9525">
            <a:solidFill>
              <a:srgbClr val="4A422F"/>
            </a:solidFill>
            <a:prstDash val="solid"/>
          </a:ln>
        </p:spPr>
      </p:sp>
      <p:sp>
        <p:nvSpPr>
          <p:cNvPr id="13" name="Text 10"/>
          <p:cNvSpPr/>
          <p:nvPr/>
        </p:nvSpPr>
        <p:spPr>
          <a:xfrm>
            <a:off x="786384" y="4700016"/>
            <a:ext cx="2743200" cy="164592"/>
          </a:xfrm>
          <a:prstGeom prst="rect">
            <a:avLst/>
          </a:prstGeom>
          <a:noFill/>
          <a:ln/>
        </p:spPr>
        <p:txBody>
          <a:bodyPr wrap="square" lIns="0" tIns="0" rIns="0" bIns="0" rtlCol="0" anchor="t"/>
          <a:lstStyle/>
          <a:p>
            <a:pPr indent="0" marL="0">
              <a:buNone/>
            </a:pPr>
            <a:r>
              <a:rPr lang="en-US" sz="850" b="1" spc="160" kern="0" dirty="0">
                <a:solidFill>
                  <a:srgbClr val="CBB78A"/>
                </a:solidFill>
                <a:latin typeface="Arial" pitchFamily="34" charset="0"/>
                <a:ea typeface="Arial" pitchFamily="34" charset="-122"/>
                <a:cs typeface="Arial" pitchFamily="34" charset="-120"/>
              </a:rPr>
              <a:t>ANSWERS</a:t>
            </a:r>
            <a:endParaRPr lang="en-US" sz="850" dirty="0"/>
          </a:p>
        </p:txBody>
      </p:sp>
      <p:sp>
        <p:nvSpPr>
          <p:cNvPr id="14" name="Text 11"/>
          <p:cNvSpPr/>
          <p:nvPr/>
        </p:nvSpPr>
        <p:spPr>
          <a:xfrm>
            <a:off x="786384" y="4919472"/>
            <a:ext cx="4133088" cy="603504"/>
          </a:xfrm>
          <a:prstGeom prst="rect">
            <a:avLst/>
          </a:prstGeom>
          <a:noFill/>
          <a:ln/>
        </p:spPr>
        <p:txBody>
          <a:bodyPr wrap="square" lIns="0" tIns="0" rIns="0" bIns="0" rtlCol="0" anchor="t"/>
          <a:lstStyle/>
          <a:p>
            <a:pPr indent="0" marL="0">
              <a:lnSpc>
                <a:spcPts val="1700"/>
              </a:lnSpc>
              <a:buNone/>
            </a:pPr>
            <a:r>
              <a:rPr lang="en-US" sz="1200" i="1" dirty="0">
                <a:solidFill>
                  <a:srgbClr val="EDEAE3"/>
                </a:solidFill>
                <a:latin typeface="Arial" pitchFamily="34" charset="0"/>
                <a:ea typeface="Arial" pitchFamily="34" charset="-122"/>
                <a:cs typeface="Arial" pitchFamily="34" charset="-120"/>
              </a:rPr>
              <a:t>“How much control do I have over what it writes?”</a:t>
            </a:r>
            <a:endParaRPr lang="en-US" sz="1200" dirty="0"/>
          </a:p>
        </p:txBody>
      </p:sp>
      <p:sp>
        <p:nvSpPr>
          <p:cNvPr id="15" name="Text 12"/>
          <p:cNvSpPr/>
          <p:nvPr/>
        </p:nvSpPr>
        <p:spPr>
          <a:xfrm>
            <a:off x="566928" y="5779008"/>
            <a:ext cx="4572000" cy="219456"/>
          </a:xfrm>
          <a:prstGeom prst="rect">
            <a:avLst/>
          </a:prstGeom>
          <a:noFill/>
          <a:ln/>
        </p:spPr>
        <p:txBody>
          <a:bodyPr wrap="square" lIns="0" tIns="0" rIns="0" bIns="0" rtlCol="0" anchor="t"/>
          <a:lstStyle/>
          <a:p>
            <a:pPr indent="0" marL="0">
              <a:buNone/>
            </a:pPr>
            <a:r>
              <a:rPr lang="en-US" sz="950" dirty="0">
                <a:solidFill>
                  <a:srgbClr val="75706A"/>
                </a:solidFill>
                <a:latin typeface="Arial" pitchFamily="34" charset="0"/>
                <a:ea typeface="Arial" pitchFamily="34" charset="-122"/>
                <a:cs typeface="Arial" pitchFamily="34" charset="-120"/>
              </a:rPr>
              <a:t>F19   ·   F20   ·   F21   ·   F22   ·   F23</a:t>
            </a:r>
            <a:endParaRPr lang="en-US" sz="950" dirty="0"/>
          </a:p>
        </p:txBody>
      </p:sp>
      <p:sp>
        <p:nvSpPr>
          <p:cNvPr id="17" name="Shape 13"/>
          <p:cNvSpPr/>
          <p:nvPr/>
        </p:nvSpPr>
        <p:spPr>
          <a:xfrm>
            <a:off x="566928" y="6345936"/>
            <a:ext cx="11027664" cy="0"/>
          </a:xfrm>
          <a:prstGeom prst="line">
            <a:avLst/>
          </a:prstGeom>
          <a:noFill/>
          <a:ln w="9525">
            <a:solidFill>
              <a:srgbClr val="26262B"/>
            </a:solidFill>
            <a:prstDash val="solid"/>
          </a:ln>
        </p:spPr>
      </p:sp>
      <p:sp>
        <p:nvSpPr>
          <p:cNvPr id="18" name="Text 14"/>
          <p:cNvSpPr/>
          <p:nvPr/>
        </p:nvSpPr>
        <p:spPr>
          <a:xfrm>
            <a:off x="566928" y="6419088"/>
            <a:ext cx="6400800" cy="201168"/>
          </a:xfrm>
          <a:prstGeom prst="rect">
            <a:avLst/>
          </a:prstGeom>
          <a:noFill/>
          <a:ln/>
        </p:spPr>
        <p:txBody>
          <a:bodyPr wrap="square" lIns="0" tIns="0" rIns="0" bIns="0" rtlCol="0" anchor="t"/>
          <a:lstStyle/>
          <a:p>
            <a:pPr indent="0" marL="0">
              <a:buNone/>
            </a:pPr>
            <a:r>
              <a:rPr lang="en-US" sz="900" dirty="0">
                <a:solidFill>
                  <a:srgbClr val="75706A"/>
                </a:solidFill>
                <a:latin typeface="Arial" pitchFamily="34" charset="0"/>
                <a:ea typeface="Arial" pitchFamily="34" charset="-122"/>
                <a:cs typeface="Arial" pitchFamily="34" charset="-120"/>
              </a:rPr>
              <a:t>PXEngine  ·  demo cut  ·  12 minutes</a:t>
            </a:r>
            <a:endParaRPr lang="en-US" sz="900" dirty="0"/>
          </a:p>
        </p:txBody>
      </p:sp>
      <p:sp>
        <p:nvSpPr>
          <p:cNvPr id="19" name="Text 15"/>
          <p:cNvSpPr/>
          <p:nvPr/>
        </p:nvSpPr>
        <p:spPr>
          <a:xfrm>
            <a:off x="11045952" y="6419088"/>
            <a:ext cx="548640" cy="201168"/>
          </a:xfrm>
          <a:prstGeom prst="rect">
            <a:avLst/>
          </a:prstGeom>
          <a:noFill/>
          <a:ln/>
        </p:spPr>
        <p:txBody>
          <a:bodyPr wrap="square" lIns="0" tIns="0" rIns="0" bIns="0" rtlCol="0" anchor="t"/>
          <a:lstStyle/>
          <a:p>
            <a:pPr algn="r" indent="0" marL="0">
              <a:buNone/>
            </a:pPr>
            <a:r>
              <a:rPr lang="en-US" sz="900" dirty="0">
                <a:solidFill>
                  <a:srgbClr val="75706A"/>
                </a:solidFill>
                <a:latin typeface="Arial" pitchFamily="34" charset="0"/>
                <a:ea typeface="Arial" pitchFamily="34" charset="-122"/>
                <a:cs typeface="Arial"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0A0A"/>
        </a:solidFill>
      </p:bgPr>
    </p:bg>
    <p:spTree>
      <p:nvGrpSpPr>
        <p:cNvPr id="1" name=""/>
        <p:cNvGrpSpPr/>
        <p:nvPr/>
      </p:nvGrpSpPr>
      <p:grpSpPr>
        <a:xfrm>
          <a:off x="0" y="0"/>
          <a:ext cx="0" cy="0"/>
          <a:chOff x="0" y="0"/>
          <a:chExt cx="0" cy="0"/>
        </a:xfrm>
      </p:grpSpPr>
      <p:sp>
        <p:nvSpPr>
          <p:cNvPr id="2" name="Text 0"/>
          <p:cNvSpPr/>
          <p:nvPr/>
        </p:nvSpPr>
        <p:spPr>
          <a:xfrm>
            <a:off x="566928" y="365760"/>
            <a:ext cx="11027664" cy="182880"/>
          </a:xfrm>
          <a:prstGeom prst="rect">
            <a:avLst/>
          </a:prstGeom>
          <a:noFill/>
          <a:ln/>
        </p:spPr>
        <p:txBody>
          <a:bodyPr wrap="square" lIns="0" tIns="0" rIns="0" bIns="0" rtlCol="0" anchor="t"/>
          <a:lstStyle/>
          <a:p>
            <a:pPr indent="0" marL="0">
              <a:buNone/>
            </a:pPr>
            <a:r>
              <a:rPr lang="en-US" sz="1000" b="1" spc="220" kern="0" dirty="0">
                <a:solidFill>
                  <a:srgbClr val="CBB78A"/>
                </a:solidFill>
                <a:latin typeface="Arial" pitchFamily="34" charset="0"/>
                <a:ea typeface="Arial" pitchFamily="34" charset="-122"/>
                <a:cs typeface="Arial" pitchFamily="34" charset="-120"/>
              </a:rPr>
              <a:t>STAGE 4 OF 7  ·  1 MIN  ·  DOCUMENTATION STEP 3.6</a:t>
            </a:r>
            <a:endParaRPr lang="en-US" sz="1000" dirty="0"/>
          </a:p>
        </p:txBody>
      </p:sp>
      <p:sp>
        <p:nvSpPr>
          <p:cNvPr id="3" name="Text 1"/>
          <p:cNvSpPr/>
          <p:nvPr/>
        </p:nvSpPr>
        <p:spPr>
          <a:xfrm>
            <a:off x="566928" y="585216"/>
            <a:ext cx="11027664" cy="457200"/>
          </a:xfrm>
          <a:prstGeom prst="rect">
            <a:avLst/>
          </a:prstGeom>
          <a:noFill/>
          <a:ln/>
        </p:spPr>
        <p:txBody>
          <a:bodyPr wrap="square" lIns="0" tIns="0" rIns="0" bIns="0" rtlCol="0" anchor="t"/>
          <a:lstStyle/>
          <a:p>
            <a:pPr indent="0" marL="0">
              <a:buNone/>
            </a:pPr>
            <a:r>
              <a:rPr lang="en-US" sz="2600" b="1" dirty="0">
                <a:solidFill>
                  <a:srgbClr val="EDEAE3"/>
                </a:solidFill>
                <a:latin typeface="Arial" pitchFamily="34" charset="0"/>
                <a:ea typeface="Arial" pitchFamily="34" charset="-122"/>
                <a:cs typeface="Arial" pitchFamily="34" charset="-120"/>
              </a:rPr>
              <a:t>An artifact lands</a:t>
            </a:r>
            <a:endParaRPr lang="en-US" sz="2600" dirty="0"/>
          </a:p>
        </p:txBody>
      </p:sp>
      <p:sp>
        <p:nvSpPr>
          <p:cNvPr id="4" name="Text 2"/>
          <p:cNvSpPr/>
          <p:nvPr/>
        </p:nvSpPr>
        <p:spPr>
          <a:xfrm>
            <a:off x="566928" y="1097280"/>
            <a:ext cx="10661904" cy="237744"/>
          </a:xfrm>
          <a:prstGeom prst="rect">
            <a:avLst/>
          </a:prstGeom>
          <a:noFill/>
          <a:ln/>
        </p:spPr>
        <p:txBody>
          <a:bodyPr wrap="square" lIns="0" tIns="0" rIns="0" bIns="0" rtlCol="0" anchor="t"/>
          <a:lstStyle/>
          <a:p>
            <a:pPr indent="0" marL="0">
              <a:buNone/>
            </a:pPr>
            <a:r>
              <a:rPr lang="en-US" sz="1100" b="1" dirty="0">
                <a:solidFill>
                  <a:srgbClr val="CBB78A"/>
                </a:solidFill>
                <a:latin typeface="Arial" pitchFamily="34" charset="0"/>
                <a:ea typeface="Arial" pitchFamily="34" charset="-122"/>
                <a:cs typeface="Arial" pitchFamily="34" charset="-120"/>
              </a:rPr>
              <a:t>DEMO — Panda Express Monthly Report</a:t>
            </a:r>
            <a:pPr indent="0" marL="0">
              <a:buNone/>
            </a:pPr>
            <a:r>
              <a:rPr lang="en-US" sz="1100" dirty="0">
                <a:solidFill>
                  <a:srgbClr val="75706A"/>
                </a:solidFill>
                <a:latin typeface="Arial" pitchFamily="34" charset="0"/>
                <a:ea typeface="Arial" pitchFamily="34" charset="-122"/>
                <a:cs typeface="Arial" pitchFamily="34" charset="-120"/>
              </a:rPr>
              <a:t>   same thread</a:t>
            </a:r>
            <a:endParaRPr lang="en-US" sz="1100" dirty="0"/>
          </a:p>
        </p:txBody>
      </p:sp>
      <p:pic>
        <p:nvPicPr>
          <p:cNvPr id="5" name="Image 0" descr="preencoded.png">    </p:cNvPr>
          <p:cNvPicPr>
            <a:picLocks noChangeAspect="1"/>
          </p:cNvPicPr>
          <p:nvPr/>
        </p:nvPicPr>
        <p:blipFill>
          <a:blip r:embed="rId1"/>
          <a:stretch>
            <a:fillRect/>
          </a:stretch>
        </p:blipFill>
        <p:spPr>
          <a:xfrm>
            <a:off x="5541264" y="1627632"/>
            <a:ext cx="6053328" cy="3404997"/>
          </a:xfrm>
          <a:prstGeom prst="rect">
            <a:avLst/>
          </a:prstGeom>
        </p:spPr>
      </p:pic>
      <p:sp>
        <p:nvSpPr>
          <p:cNvPr id="6" name="Shape 3"/>
          <p:cNvSpPr/>
          <p:nvPr/>
        </p:nvSpPr>
        <p:spPr>
          <a:xfrm>
            <a:off x="5541264" y="1627632"/>
            <a:ext cx="6053328" cy="3404997"/>
          </a:xfrm>
          <a:prstGeom prst="rect">
            <a:avLst/>
          </a:prstGeom>
          <a:ln w="9525">
            <a:solidFill>
              <a:srgbClr val="26262B"/>
            </a:solidFill>
            <a:prstDash val="solid"/>
          </a:ln>
        </p:spPr>
      </p:sp>
      <p:sp>
        <p:nvSpPr>
          <p:cNvPr id="7" name="Text 4"/>
          <p:cNvSpPr/>
          <p:nvPr/>
        </p:nvSpPr>
        <p:spPr>
          <a:xfrm>
            <a:off x="5541264" y="5142357"/>
            <a:ext cx="6053328" cy="201168"/>
          </a:xfrm>
          <a:prstGeom prst="rect">
            <a:avLst/>
          </a:prstGeom>
          <a:noFill/>
          <a:ln/>
        </p:spPr>
        <p:txBody>
          <a:bodyPr wrap="square" lIns="0" tIns="0" rIns="0" bIns="0" rtlCol="0" anchor="t"/>
          <a:lstStyle/>
          <a:p>
            <a:pPr indent="0" marL="0">
              <a:buNone/>
            </a:pPr>
            <a:r>
              <a:rPr lang="en-US" sz="900" dirty="0">
                <a:solidFill>
                  <a:srgbClr val="75706A"/>
                </a:solidFill>
                <a:latin typeface="Arial" pitchFamily="34" charset="0"/>
                <a:ea typeface="Arial" pitchFamily="34" charset="-122"/>
                <a:cs typeface="Arial" pitchFamily="34" charset="-120"/>
              </a:rPr>
              <a:t>Documentation figure 3.6</a:t>
            </a:r>
            <a:endParaRPr lang="en-US" sz="900" dirty="0"/>
          </a:p>
        </p:txBody>
      </p:sp>
      <p:sp>
        <p:nvSpPr>
          <p:cNvPr id="8" name="Text 5"/>
          <p:cNvSpPr/>
          <p:nvPr/>
        </p:nvSpPr>
        <p:spPr>
          <a:xfrm>
            <a:off x="566928" y="1664208"/>
            <a:ext cx="2743200" cy="164592"/>
          </a:xfrm>
          <a:prstGeom prst="rect">
            <a:avLst/>
          </a:prstGeom>
          <a:noFill/>
          <a:ln/>
        </p:spPr>
        <p:txBody>
          <a:bodyPr wrap="square" lIns="0" tIns="0" rIns="0" bIns="0" rtlCol="0" anchor="t"/>
          <a:lstStyle/>
          <a:p>
            <a:pPr indent="0" marL="0">
              <a:buNone/>
            </a:pPr>
            <a:r>
              <a:rPr lang="en-US" sz="850" b="1" spc="160" kern="0" dirty="0">
                <a:solidFill>
                  <a:srgbClr val="75706A"/>
                </a:solidFill>
                <a:latin typeface="Arial" pitchFamily="34" charset="0"/>
                <a:ea typeface="Arial" pitchFamily="34" charset="-122"/>
                <a:cs typeface="Arial" pitchFamily="34" charset="-120"/>
              </a:rPr>
              <a:t>SHOW</a:t>
            </a:r>
            <a:endParaRPr lang="en-US" sz="850" dirty="0"/>
          </a:p>
        </p:txBody>
      </p:sp>
      <p:sp>
        <p:nvSpPr>
          <p:cNvPr id="9" name="Text 6"/>
          <p:cNvSpPr/>
          <p:nvPr/>
        </p:nvSpPr>
        <p:spPr>
          <a:xfrm>
            <a:off x="566928" y="1865376"/>
            <a:ext cx="4572000" cy="731520"/>
          </a:xfrm>
          <a:prstGeom prst="rect">
            <a:avLst/>
          </a:prstGeom>
          <a:noFill/>
          <a:ln/>
        </p:spPr>
        <p:txBody>
          <a:bodyPr wrap="square" lIns="0" tIns="0" rIns="0" bIns="0" rtlCol="0" anchor="t"/>
          <a:lstStyle/>
          <a:p>
            <a:pPr indent="0" marL="0">
              <a:lnSpc>
                <a:spcPts val="1900"/>
              </a:lnSpc>
              <a:buNone/>
            </a:pPr>
            <a:r>
              <a:rPr lang="en-US" sz="1300" dirty="0">
                <a:solidFill>
                  <a:srgbClr val="EDEAE3"/>
                </a:solidFill>
                <a:latin typeface="Arial" pitchFamily="34" charset="0"/>
                <a:ea typeface="Arial" pitchFamily="34" charset="-122"/>
                <a:cs typeface="Arial" pitchFamily="34" charset="-120"/>
              </a:rPr>
              <a:t>The report card: metadata, branded header, the export controls.</a:t>
            </a:r>
            <a:endParaRPr lang="en-US" sz="1300" dirty="0"/>
          </a:p>
        </p:txBody>
      </p:sp>
      <p:sp>
        <p:nvSpPr>
          <p:cNvPr id="10" name="Text 7"/>
          <p:cNvSpPr/>
          <p:nvPr/>
        </p:nvSpPr>
        <p:spPr>
          <a:xfrm>
            <a:off x="566928" y="2743200"/>
            <a:ext cx="2743200" cy="164592"/>
          </a:xfrm>
          <a:prstGeom prst="rect">
            <a:avLst/>
          </a:prstGeom>
          <a:noFill/>
          <a:ln/>
        </p:spPr>
        <p:txBody>
          <a:bodyPr wrap="square" lIns="0" tIns="0" rIns="0" bIns="0" rtlCol="0" anchor="t"/>
          <a:lstStyle/>
          <a:p>
            <a:pPr indent="0" marL="0">
              <a:buNone/>
            </a:pPr>
            <a:r>
              <a:rPr lang="en-US" sz="850" b="1" spc="160" kern="0" dirty="0">
                <a:solidFill>
                  <a:srgbClr val="75706A"/>
                </a:solidFill>
                <a:latin typeface="Arial" pitchFamily="34" charset="0"/>
                <a:ea typeface="Arial" pitchFamily="34" charset="-122"/>
                <a:cs typeface="Arial" pitchFamily="34" charset="-120"/>
              </a:rPr>
              <a:t>EXPLAIN</a:t>
            </a:r>
            <a:endParaRPr lang="en-US" sz="850" dirty="0"/>
          </a:p>
        </p:txBody>
      </p:sp>
      <p:sp>
        <p:nvSpPr>
          <p:cNvPr id="11" name="Text 8"/>
          <p:cNvSpPr/>
          <p:nvPr/>
        </p:nvSpPr>
        <p:spPr>
          <a:xfrm>
            <a:off x="566928" y="2944368"/>
            <a:ext cx="4572000" cy="1463040"/>
          </a:xfrm>
          <a:prstGeom prst="rect">
            <a:avLst/>
          </a:prstGeom>
          <a:noFill/>
          <a:ln/>
        </p:spPr>
        <p:txBody>
          <a:bodyPr wrap="square" lIns="0" tIns="0" rIns="0" bIns="0" rtlCol="0" anchor="t"/>
          <a:lstStyle/>
          <a:p>
            <a:pPr indent="0" marL="0">
              <a:lnSpc>
                <a:spcPts val="1900"/>
              </a:lnSpc>
              <a:buNone/>
            </a:pPr>
            <a:r>
              <a:rPr lang="en-US" sz="1250" dirty="0">
                <a:solidFill>
                  <a:srgbClr val="A8A39B"/>
                </a:solidFill>
                <a:latin typeface="Arial" pitchFamily="34" charset="0"/>
                <a:ea typeface="Arial" pitchFamily="34" charset="-122"/>
                <a:cs typeface="Arial" pitchFamily="34" charset="-120"/>
              </a:rPr>
              <a:t>The output is a branded, sourced, shareable document. Branding is applied at render time from organisation settings, not baked into the report.</a:t>
            </a:r>
            <a:endParaRPr lang="en-US" sz="1250" dirty="0"/>
          </a:p>
        </p:txBody>
      </p:sp>
      <p:sp>
        <p:nvSpPr>
          <p:cNvPr id="12" name="Shape 9"/>
          <p:cNvSpPr/>
          <p:nvPr/>
        </p:nvSpPr>
        <p:spPr>
          <a:xfrm>
            <a:off x="566928" y="4517136"/>
            <a:ext cx="4572000" cy="1097280"/>
          </a:xfrm>
          <a:prstGeom prst="roundRect">
            <a:avLst>
              <a:gd name="adj" fmla="val 5000"/>
            </a:avLst>
          </a:prstGeom>
          <a:solidFill>
            <a:srgbClr val="1C1913"/>
          </a:solidFill>
          <a:ln w="9525">
            <a:solidFill>
              <a:srgbClr val="4A422F"/>
            </a:solidFill>
            <a:prstDash val="solid"/>
          </a:ln>
        </p:spPr>
      </p:sp>
      <p:sp>
        <p:nvSpPr>
          <p:cNvPr id="13" name="Text 10"/>
          <p:cNvSpPr/>
          <p:nvPr/>
        </p:nvSpPr>
        <p:spPr>
          <a:xfrm>
            <a:off x="786384" y="4700016"/>
            <a:ext cx="2743200" cy="164592"/>
          </a:xfrm>
          <a:prstGeom prst="rect">
            <a:avLst/>
          </a:prstGeom>
          <a:noFill/>
          <a:ln/>
        </p:spPr>
        <p:txBody>
          <a:bodyPr wrap="square" lIns="0" tIns="0" rIns="0" bIns="0" rtlCol="0" anchor="t"/>
          <a:lstStyle/>
          <a:p>
            <a:pPr indent="0" marL="0">
              <a:buNone/>
            </a:pPr>
            <a:r>
              <a:rPr lang="en-US" sz="850" b="1" spc="160" kern="0" dirty="0">
                <a:solidFill>
                  <a:srgbClr val="CBB78A"/>
                </a:solidFill>
                <a:latin typeface="Arial" pitchFamily="34" charset="0"/>
                <a:ea typeface="Arial" pitchFamily="34" charset="-122"/>
                <a:cs typeface="Arial" pitchFamily="34" charset="-120"/>
              </a:rPr>
              <a:t>ANSWERS</a:t>
            </a:r>
            <a:endParaRPr lang="en-US" sz="850" dirty="0"/>
          </a:p>
        </p:txBody>
      </p:sp>
      <p:sp>
        <p:nvSpPr>
          <p:cNvPr id="14" name="Text 11"/>
          <p:cNvSpPr/>
          <p:nvPr/>
        </p:nvSpPr>
        <p:spPr>
          <a:xfrm>
            <a:off x="786384" y="4919472"/>
            <a:ext cx="4133088" cy="603504"/>
          </a:xfrm>
          <a:prstGeom prst="rect">
            <a:avLst/>
          </a:prstGeom>
          <a:noFill/>
          <a:ln/>
        </p:spPr>
        <p:txBody>
          <a:bodyPr wrap="square" lIns="0" tIns="0" rIns="0" bIns="0" rtlCol="0" anchor="t"/>
          <a:lstStyle/>
          <a:p>
            <a:pPr indent="0" marL="0">
              <a:lnSpc>
                <a:spcPts val="1700"/>
              </a:lnSpc>
              <a:buNone/>
            </a:pPr>
            <a:r>
              <a:rPr lang="en-US" sz="1200" i="1" dirty="0">
                <a:solidFill>
                  <a:srgbClr val="EDEAE3"/>
                </a:solidFill>
                <a:latin typeface="Arial" pitchFamily="34" charset="0"/>
                <a:ea typeface="Arial" pitchFamily="34" charset="-122"/>
                <a:cs typeface="Arial" pitchFamily="34" charset="-120"/>
              </a:rPr>
              <a:t>“Is this something I can put in front of a client?”</a:t>
            </a:r>
            <a:endParaRPr lang="en-US" sz="1200" dirty="0"/>
          </a:p>
        </p:txBody>
      </p:sp>
      <p:sp>
        <p:nvSpPr>
          <p:cNvPr id="15" name="Text 12"/>
          <p:cNvSpPr/>
          <p:nvPr/>
        </p:nvSpPr>
        <p:spPr>
          <a:xfrm>
            <a:off x="566928" y="5779008"/>
            <a:ext cx="4572000" cy="219456"/>
          </a:xfrm>
          <a:prstGeom prst="rect">
            <a:avLst/>
          </a:prstGeom>
          <a:noFill/>
          <a:ln/>
        </p:spPr>
        <p:txBody>
          <a:bodyPr wrap="square" lIns="0" tIns="0" rIns="0" bIns="0" rtlCol="0" anchor="t"/>
          <a:lstStyle/>
          <a:p>
            <a:pPr indent="0" marL="0">
              <a:buNone/>
            </a:pPr>
            <a:r>
              <a:rPr lang="en-US" sz="950" dirty="0">
                <a:solidFill>
                  <a:srgbClr val="75706A"/>
                </a:solidFill>
                <a:latin typeface="Arial" pitchFamily="34" charset="0"/>
                <a:ea typeface="Arial" pitchFamily="34" charset="-122"/>
                <a:cs typeface="Arial" pitchFamily="34" charset="-120"/>
              </a:rPr>
              <a:t>F24   ·   F25   ·   F26   ·   F28   ·   F29</a:t>
            </a:r>
            <a:endParaRPr lang="en-US" sz="950" dirty="0"/>
          </a:p>
        </p:txBody>
      </p:sp>
      <p:sp>
        <p:nvSpPr>
          <p:cNvPr id="17" name="Shape 13"/>
          <p:cNvSpPr/>
          <p:nvPr/>
        </p:nvSpPr>
        <p:spPr>
          <a:xfrm>
            <a:off x="566928" y="6345936"/>
            <a:ext cx="11027664" cy="0"/>
          </a:xfrm>
          <a:prstGeom prst="line">
            <a:avLst/>
          </a:prstGeom>
          <a:noFill/>
          <a:ln w="9525">
            <a:solidFill>
              <a:srgbClr val="26262B"/>
            </a:solidFill>
            <a:prstDash val="solid"/>
          </a:ln>
        </p:spPr>
      </p:sp>
      <p:sp>
        <p:nvSpPr>
          <p:cNvPr id="18" name="Text 14"/>
          <p:cNvSpPr/>
          <p:nvPr/>
        </p:nvSpPr>
        <p:spPr>
          <a:xfrm>
            <a:off x="566928" y="6419088"/>
            <a:ext cx="6400800" cy="201168"/>
          </a:xfrm>
          <a:prstGeom prst="rect">
            <a:avLst/>
          </a:prstGeom>
          <a:noFill/>
          <a:ln/>
        </p:spPr>
        <p:txBody>
          <a:bodyPr wrap="square" lIns="0" tIns="0" rIns="0" bIns="0" rtlCol="0" anchor="t"/>
          <a:lstStyle/>
          <a:p>
            <a:pPr indent="0" marL="0">
              <a:buNone/>
            </a:pPr>
            <a:r>
              <a:rPr lang="en-US" sz="900" dirty="0">
                <a:solidFill>
                  <a:srgbClr val="75706A"/>
                </a:solidFill>
                <a:latin typeface="Arial" pitchFamily="34" charset="0"/>
                <a:ea typeface="Arial" pitchFamily="34" charset="-122"/>
                <a:cs typeface="Arial" pitchFamily="34" charset="-120"/>
              </a:rPr>
              <a:t>PXEngine  ·  demo cut  ·  12 minutes</a:t>
            </a:r>
            <a:endParaRPr lang="en-US" sz="900" dirty="0"/>
          </a:p>
        </p:txBody>
      </p:sp>
      <p:sp>
        <p:nvSpPr>
          <p:cNvPr id="19" name="Text 15"/>
          <p:cNvSpPr/>
          <p:nvPr/>
        </p:nvSpPr>
        <p:spPr>
          <a:xfrm>
            <a:off x="11045952" y="6419088"/>
            <a:ext cx="548640" cy="201168"/>
          </a:xfrm>
          <a:prstGeom prst="rect">
            <a:avLst/>
          </a:prstGeom>
          <a:noFill/>
          <a:ln/>
        </p:spPr>
        <p:txBody>
          <a:bodyPr wrap="square" lIns="0" tIns="0" rIns="0" bIns="0" rtlCol="0" anchor="t"/>
          <a:lstStyle/>
          <a:p>
            <a:pPr algn="r" indent="0" marL="0">
              <a:buNone/>
            </a:pPr>
            <a:r>
              <a:rPr lang="en-US" sz="900" dirty="0">
                <a:solidFill>
                  <a:srgbClr val="75706A"/>
                </a:solidFill>
                <a:latin typeface="Arial" pitchFamily="34" charset="0"/>
                <a:ea typeface="Arial" pitchFamily="34" charset="-122"/>
                <a:cs typeface="Arial"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0A0A"/>
        </a:solidFill>
      </p:bgPr>
    </p:bg>
    <p:spTree>
      <p:nvGrpSpPr>
        <p:cNvPr id="1" name=""/>
        <p:cNvGrpSpPr/>
        <p:nvPr/>
      </p:nvGrpSpPr>
      <p:grpSpPr>
        <a:xfrm>
          <a:off x="0" y="0"/>
          <a:ext cx="0" cy="0"/>
          <a:chOff x="0" y="0"/>
          <a:chExt cx="0" cy="0"/>
        </a:xfrm>
      </p:grpSpPr>
      <p:sp>
        <p:nvSpPr>
          <p:cNvPr id="2" name="Text 0"/>
          <p:cNvSpPr/>
          <p:nvPr/>
        </p:nvSpPr>
        <p:spPr>
          <a:xfrm>
            <a:off x="566928" y="365760"/>
            <a:ext cx="11027664" cy="182880"/>
          </a:xfrm>
          <a:prstGeom prst="rect">
            <a:avLst/>
          </a:prstGeom>
          <a:noFill/>
          <a:ln/>
        </p:spPr>
        <p:txBody>
          <a:bodyPr wrap="square" lIns="0" tIns="0" rIns="0" bIns="0" rtlCol="0" anchor="t"/>
          <a:lstStyle/>
          <a:p>
            <a:pPr indent="0" marL="0">
              <a:buNone/>
            </a:pPr>
            <a:r>
              <a:rPr lang="en-US" sz="1000" b="1" spc="220" kern="0" dirty="0">
                <a:solidFill>
                  <a:srgbClr val="CBB78A"/>
                </a:solidFill>
                <a:latin typeface="Arial" pitchFamily="34" charset="0"/>
                <a:ea typeface="Arial" pitchFamily="34" charset="-122"/>
                <a:cs typeface="Arial" pitchFamily="34" charset="-120"/>
              </a:rPr>
              <a:t>STAGE 5 OF 7  ·  2 MIN  ·  DOCUMENTATION STEP 3.8</a:t>
            </a:r>
            <a:endParaRPr lang="en-US" sz="1000" dirty="0"/>
          </a:p>
        </p:txBody>
      </p:sp>
      <p:sp>
        <p:nvSpPr>
          <p:cNvPr id="3" name="Text 1"/>
          <p:cNvSpPr/>
          <p:nvPr/>
        </p:nvSpPr>
        <p:spPr>
          <a:xfrm>
            <a:off x="566928" y="585216"/>
            <a:ext cx="11027664" cy="457200"/>
          </a:xfrm>
          <a:prstGeom prst="rect">
            <a:avLst/>
          </a:prstGeom>
          <a:noFill/>
          <a:ln/>
        </p:spPr>
        <p:txBody>
          <a:bodyPr wrap="square" lIns="0" tIns="0" rIns="0" bIns="0" rtlCol="0" anchor="t"/>
          <a:lstStyle/>
          <a:p>
            <a:pPr indent="0" marL="0">
              <a:buNone/>
            </a:pPr>
            <a:r>
              <a:rPr lang="en-US" sz="2600" b="1" dirty="0">
                <a:solidFill>
                  <a:srgbClr val="EDEAE3"/>
                </a:solidFill>
                <a:latin typeface="Arial" pitchFamily="34" charset="0"/>
                <a:ea typeface="Arial" pitchFamily="34" charset="-122"/>
                <a:cs typeface="Arial" pitchFamily="34" charset="-120"/>
              </a:rPr>
              <a:t>Every slide has a type</a:t>
            </a:r>
            <a:endParaRPr lang="en-US" sz="2600" dirty="0"/>
          </a:p>
        </p:txBody>
      </p:sp>
      <p:sp>
        <p:nvSpPr>
          <p:cNvPr id="4" name="Text 2"/>
          <p:cNvSpPr/>
          <p:nvPr/>
        </p:nvSpPr>
        <p:spPr>
          <a:xfrm>
            <a:off x="566928" y="1097280"/>
            <a:ext cx="10661904" cy="237744"/>
          </a:xfrm>
          <a:prstGeom prst="rect">
            <a:avLst/>
          </a:prstGeom>
          <a:noFill/>
          <a:ln/>
        </p:spPr>
        <p:txBody>
          <a:bodyPr wrap="square" lIns="0" tIns="0" rIns="0" bIns="0" rtlCol="0" anchor="t"/>
          <a:lstStyle/>
          <a:p>
            <a:pPr indent="0" marL="0">
              <a:buNone/>
            </a:pPr>
            <a:r>
              <a:rPr lang="en-US" sz="1100" b="1" dirty="0">
                <a:solidFill>
                  <a:srgbClr val="CBB78A"/>
                </a:solidFill>
                <a:latin typeface="Arial" pitchFamily="34" charset="0"/>
                <a:ea typeface="Arial" pitchFamily="34" charset="-122"/>
                <a:cs typeface="Arial" pitchFamily="34" charset="-120"/>
              </a:rPr>
              <a:t>DEMO — Panda Express Monthly Report</a:t>
            </a:r>
            <a:pPr indent="0" marL="0">
              <a:buNone/>
            </a:pPr>
            <a:r>
              <a:rPr lang="en-US" sz="1100" dirty="0">
                <a:solidFill>
                  <a:srgbClr val="75706A"/>
                </a:solidFill>
                <a:latin typeface="Arial" pitchFamily="34" charset="0"/>
                <a:ea typeface="Arial" pitchFamily="34" charset="-122"/>
                <a:cs typeface="Arial" pitchFamily="34" charset="-120"/>
              </a:rPr>
              <a:t>   same thread</a:t>
            </a:r>
            <a:endParaRPr lang="en-US" sz="1100" dirty="0"/>
          </a:p>
        </p:txBody>
      </p:sp>
      <p:pic>
        <p:nvPicPr>
          <p:cNvPr id="5" name="Image 0" descr="preencoded.png">    </p:cNvPr>
          <p:cNvPicPr>
            <a:picLocks noChangeAspect="1"/>
          </p:cNvPicPr>
          <p:nvPr/>
        </p:nvPicPr>
        <p:blipFill>
          <a:blip r:embed="rId1"/>
          <a:stretch>
            <a:fillRect/>
          </a:stretch>
        </p:blipFill>
        <p:spPr>
          <a:xfrm>
            <a:off x="5541264" y="1627632"/>
            <a:ext cx="6053328" cy="3404997"/>
          </a:xfrm>
          <a:prstGeom prst="rect">
            <a:avLst/>
          </a:prstGeom>
        </p:spPr>
      </p:pic>
      <p:sp>
        <p:nvSpPr>
          <p:cNvPr id="6" name="Shape 3"/>
          <p:cNvSpPr/>
          <p:nvPr/>
        </p:nvSpPr>
        <p:spPr>
          <a:xfrm>
            <a:off x="5541264" y="1627632"/>
            <a:ext cx="6053328" cy="3404997"/>
          </a:xfrm>
          <a:prstGeom prst="rect">
            <a:avLst/>
          </a:prstGeom>
          <a:ln w="9525">
            <a:solidFill>
              <a:srgbClr val="26262B"/>
            </a:solidFill>
            <a:prstDash val="solid"/>
          </a:ln>
        </p:spPr>
      </p:sp>
      <p:sp>
        <p:nvSpPr>
          <p:cNvPr id="7" name="Text 4"/>
          <p:cNvSpPr/>
          <p:nvPr/>
        </p:nvSpPr>
        <p:spPr>
          <a:xfrm>
            <a:off x="5541264" y="5142357"/>
            <a:ext cx="6053328" cy="201168"/>
          </a:xfrm>
          <a:prstGeom prst="rect">
            <a:avLst/>
          </a:prstGeom>
          <a:noFill/>
          <a:ln/>
        </p:spPr>
        <p:txBody>
          <a:bodyPr wrap="square" lIns="0" tIns="0" rIns="0" bIns="0" rtlCol="0" anchor="t"/>
          <a:lstStyle/>
          <a:p>
            <a:pPr indent="0" marL="0">
              <a:buNone/>
            </a:pPr>
            <a:r>
              <a:rPr lang="en-US" sz="900" dirty="0">
                <a:solidFill>
                  <a:srgbClr val="75706A"/>
                </a:solidFill>
                <a:latin typeface="Arial" pitchFamily="34" charset="0"/>
                <a:ea typeface="Arial" pitchFamily="34" charset="-122"/>
                <a:cs typeface="Arial" pitchFamily="34" charset="-120"/>
              </a:rPr>
              <a:t>Documentation figure 3.8</a:t>
            </a:r>
            <a:endParaRPr lang="en-US" sz="900" dirty="0"/>
          </a:p>
        </p:txBody>
      </p:sp>
      <p:sp>
        <p:nvSpPr>
          <p:cNvPr id="8" name="Text 5"/>
          <p:cNvSpPr/>
          <p:nvPr/>
        </p:nvSpPr>
        <p:spPr>
          <a:xfrm>
            <a:off x="566928" y="1664208"/>
            <a:ext cx="2743200" cy="164592"/>
          </a:xfrm>
          <a:prstGeom prst="rect">
            <a:avLst/>
          </a:prstGeom>
          <a:noFill/>
          <a:ln/>
        </p:spPr>
        <p:txBody>
          <a:bodyPr wrap="square" lIns="0" tIns="0" rIns="0" bIns="0" rtlCol="0" anchor="t"/>
          <a:lstStyle/>
          <a:p>
            <a:pPr indent="0" marL="0">
              <a:buNone/>
            </a:pPr>
            <a:r>
              <a:rPr lang="en-US" sz="850" b="1" spc="160" kern="0" dirty="0">
                <a:solidFill>
                  <a:srgbClr val="75706A"/>
                </a:solidFill>
                <a:latin typeface="Arial" pitchFamily="34" charset="0"/>
                <a:ea typeface="Arial" pitchFamily="34" charset="-122"/>
                <a:cs typeface="Arial" pitchFamily="34" charset="-120"/>
              </a:rPr>
              <a:t>SHOW</a:t>
            </a:r>
            <a:endParaRPr lang="en-US" sz="850" dirty="0"/>
          </a:p>
        </p:txBody>
      </p:sp>
      <p:sp>
        <p:nvSpPr>
          <p:cNvPr id="9" name="Text 6"/>
          <p:cNvSpPr/>
          <p:nvPr/>
        </p:nvSpPr>
        <p:spPr>
          <a:xfrm>
            <a:off x="566928" y="1865376"/>
            <a:ext cx="4572000" cy="731520"/>
          </a:xfrm>
          <a:prstGeom prst="rect">
            <a:avLst/>
          </a:prstGeom>
          <a:noFill/>
          <a:ln/>
        </p:spPr>
        <p:txBody>
          <a:bodyPr wrap="square" lIns="0" tIns="0" rIns="0" bIns="0" rtlCol="0" anchor="t"/>
          <a:lstStyle/>
          <a:p>
            <a:pPr indent="0" marL="0">
              <a:lnSpc>
                <a:spcPts val="1900"/>
              </a:lnSpc>
              <a:buNone/>
            </a:pPr>
            <a:r>
              <a:rPr lang="en-US" sz="1300" dirty="0">
                <a:solidFill>
                  <a:srgbClr val="EDEAE3"/>
                </a:solidFill>
                <a:latin typeface="Arial" pitchFamily="34" charset="0"/>
                <a:ea typeface="Arial" pitchFamily="34" charset="-122"/>
                <a:cs typeface="Arial" pitchFamily="34" charset="-120"/>
              </a:rPr>
              <a:t>The deck outline card. The type tag on each row; the per-row layout dropdown.</a:t>
            </a:r>
            <a:endParaRPr lang="en-US" sz="1300" dirty="0"/>
          </a:p>
        </p:txBody>
      </p:sp>
      <p:sp>
        <p:nvSpPr>
          <p:cNvPr id="10" name="Text 7"/>
          <p:cNvSpPr/>
          <p:nvPr/>
        </p:nvSpPr>
        <p:spPr>
          <a:xfrm>
            <a:off x="566928" y="2743200"/>
            <a:ext cx="2743200" cy="164592"/>
          </a:xfrm>
          <a:prstGeom prst="rect">
            <a:avLst/>
          </a:prstGeom>
          <a:noFill/>
          <a:ln/>
        </p:spPr>
        <p:txBody>
          <a:bodyPr wrap="square" lIns="0" tIns="0" rIns="0" bIns="0" rtlCol="0" anchor="t"/>
          <a:lstStyle/>
          <a:p>
            <a:pPr indent="0" marL="0">
              <a:buNone/>
            </a:pPr>
            <a:r>
              <a:rPr lang="en-US" sz="850" b="1" spc="160" kern="0" dirty="0">
                <a:solidFill>
                  <a:srgbClr val="75706A"/>
                </a:solidFill>
                <a:latin typeface="Arial" pitchFamily="34" charset="0"/>
                <a:ea typeface="Arial" pitchFamily="34" charset="-122"/>
                <a:cs typeface="Arial" pitchFamily="34" charset="-120"/>
              </a:rPr>
              <a:t>EXPLAIN</a:t>
            </a:r>
            <a:endParaRPr lang="en-US" sz="850" dirty="0"/>
          </a:p>
        </p:txBody>
      </p:sp>
      <p:sp>
        <p:nvSpPr>
          <p:cNvPr id="11" name="Text 8"/>
          <p:cNvSpPr/>
          <p:nvPr/>
        </p:nvSpPr>
        <p:spPr>
          <a:xfrm>
            <a:off x="566928" y="2944368"/>
            <a:ext cx="4572000" cy="1463040"/>
          </a:xfrm>
          <a:prstGeom prst="rect">
            <a:avLst/>
          </a:prstGeom>
          <a:noFill/>
          <a:ln/>
        </p:spPr>
        <p:txBody>
          <a:bodyPr wrap="square" lIns="0" tIns="0" rIns="0" bIns="0" rtlCol="0" anchor="t"/>
          <a:lstStyle/>
          <a:p>
            <a:pPr indent="0" marL="0">
              <a:lnSpc>
                <a:spcPts val="1900"/>
              </a:lnSpc>
              <a:buNone/>
            </a:pPr>
            <a:r>
              <a:rPr lang="en-US" sz="1250" dirty="0">
                <a:solidFill>
                  <a:srgbClr val="A8A39B"/>
                </a:solidFill>
                <a:latin typeface="Arial" pitchFamily="34" charset="0"/>
                <a:ea typeface="Arial" pitchFamily="34" charset="-122"/>
                <a:cs typeface="Arial" pitchFamily="34" charset="-120"/>
              </a:rPr>
              <a:t>Each slide’s type is declared before it is drawn, and can be overridden one row at a time without touching the rest of the deck.</a:t>
            </a:r>
            <a:endParaRPr lang="en-US" sz="1250" dirty="0"/>
          </a:p>
        </p:txBody>
      </p:sp>
      <p:sp>
        <p:nvSpPr>
          <p:cNvPr id="12" name="Shape 9"/>
          <p:cNvSpPr/>
          <p:nvPr/>
        </p:nvSpPr>
        <p:spPr>
          <a:xfrm>
            <a:off x="566928" y="4517136"/>
            <a:ext cx="4572000" cy="1097280"/>
          </a:xfrm>
          <a:prstGeom prst="roundRect">
            <a:avLst>
              <a:gd name="adj" fmla="val 5000"/>
            </a:avLst>
          </a:prstGeom>
          <a:solidFill>
            <a:srgbClr val="1C1913"/>
          </a:solidFill>
          <a:ln w="9525">
            <a:solidFill>
              <a:srgbClr val="4A422F"/>
            </a:solidFill>
            <a:prstDash val="solid"/>
          </a:ln>
        </p:spPr>
      </p:sp>
      <p:sp>
        <p:nvSpPr>
          <p:cNvPr id="13" name="Text 10"/>
          <p:cNvSpPr/>
          <p:nvPr/>
        </p:nvSpPr>
        <p:spPr>
          <a:xfrm>
            <a:off x="786384" y="4700016"/>
            <a:ext cx="2743200" cy="164592"/>
          </a:xfrm>
          <a:prstGeom prst="rect">
            <a:avLst/>
          </a:prstGeom>
          <a:noFill/>
          <a:ln/>
        </p:spPr>
        <p:txBody>
          <a:bodyPr wrap="square" lIns="0" tIns="0" rIns="0" bIns="0" rtlCol="0" anchor="t"/>
          <a:lstStyle/>
          <a:p>
            <a:pPr indent="0" marL="0">
              <a:buNone/>
            </a:pPr>
            <a:r>
              <a:rPr lang="en-US" sz="850" b="1" spc="160" kern="0" dirty="0">
                <a:solidFill>
                  <a:srgbClr val="CBB78A"/>
                </a:solidFill>
                <a:latin typeface="Arial" pitchFamily="34" charset="0"/>
                <a:ea typeface="Arial" pitchFamily="34" charset="-122"/>
                <a:cs typeface="Arial" pitchFamily="34" charset="-120"/>
              </a:rPr>
              <a:t>ANSWERS</a:t>
            </a:r>
            <a:endParaRPr lang="en-US" sz="850" dirty="0"/>
          </a:p>
        </p:txBody>
      </p:sp>
      <p:sp>
        <p:nvSpPr>
          <p:cNvPr id="14" name="Text 11"/>
          <p:cNvSpPr/>
          <p:nvPr/>
        </p:nvSpPr>
        <p:spPr>
          <a:xfrm>
            <a:off x="786384" y="4919472"/>
            <a:ext cx="4133088" cy="603504"/>
          </a:xfrm>
          <a:prstGeom prst="rect">
            <a:avLst/>
          </a:prstGeom>
          <a:noFill/>
          <a:ln/>
        </p:spPr>
        <p:txBody>
          <a:bodyPr wrap="square" lIns="0" tIns="0" rIns="0" bIns="0" rtlCol="0" anchor="t"/>
          <a:lstStyle/>
          <a:p>
            <a:pPr indent="0" marL="0">
              <a:lnSpc>
                <a:spcPts val="1700"/>
              </a:lnSpc>
              <a:buNone/>
            </a:pPr>
            <a:r>
              <a:rPr lang="en-US" sz="1200" i="1" dirty="0">
                <a:solidFill>
                  <a:srgbClr val="EDEAE3"/>
                </a:solidFill>
                <a:latin typeface="Arial" pitchFamily="34" charset="0"/>
                <a:ea typeface="Arial" pitchFamily="34" charset="-122"/>
                <a:cs typeface="Arial" pitchFamily="34" charset="-120"/>
              </a:rPr>
              <a:t>“Does it just produce generic slides?”</a:t>
            </a:r>
            <a:endParaRPr lang="en-US" sz="1200" dirty="0"/>
          </a:p>
        </p:txBody>
      </p:sp>
      <p:sp>
        <p:nvSpPr>
          <p:cNvPr id="15" name="Text 12"/>
          <p:cNvSpPr/>
          <p:nvPr/>
        </p:nvSpPr>
        <p:spPr>
          <a:xfrm>
            <a:off x="566928" y="5779008"/>
            <a:ext cx="4572000" cy="219456"/>
          </a:xfrm>
          <a:prstGeom prst="rect">
            <a:avLst/>
          </a:prstGeom>
          <a:noFill/>
          <a:ln/>
        </p:spPr>
        <p:txBody>
          <a:bodyPr wrap="square" lIns="0" tIns="0" rIns="0" bIns="0" rtlCol="0" anchor="t"/>
          <a:lstStyle/>
          <a:p>
            <a:pPr indent="0" marL="0">
              <a:buNone/>
            </a:pPr>
            <a:r>
              <a:rPr lang="en-US" sz="950" dirty="0">
                <a:solidFill>
                  <a:srgbClr val="75706A"/>
                </a:solidFill>
                <a:latin typeface="Arial" pitchFamily="34" charset="0"/>
                <a:ea typeface="Arial" pitchFamily="34" charset="-122"/>
                <a:cs typeface="Arial" pitchFamily="34" charset="-120"/>
              </a:rPr>
              <a:t>F30   ·   F31   ·   F32</a:t>
            </a:r>
            <a:endParaRPr lang="en-US" sz="950" dirty="0"/>
          </a:p>
        </p:txBody>
      </p:sp>
      <p:sp>
        <p:nvSpPr>
          <p:cNvPr id="17" name="Shape 13"/>
          <p:cNvSpPr/>
          <p:nvPr/>
        </p:nvSpPr>
        <p:spPr>
          <a:xfrm>
            <a:off x="566928" y="6345936"/>
            <a:ext cx="11027664" cy="0"/>
          </a:xfrm>
          <a:prstGeom prst="line">
            <a:avLst/>
          </a:prstGeom>
          <a:noFill/>
          <a:ln w="9525">
            <a:solidFill>
              <a:srgbClr val="26262B"/>
            </a:solidFill>
            <a:prstDash val="solid"/>
          </a:ln>
        </p:spPr>
      </p:sp>
      <p:sp>
        <p:nvSpPr>
          <p:cNvPr id="18" name="Text 14"/>
          <p:cNvSpPr/>
          <p:nvPr/>
        </p:nvSpPr>
        <p:spPr>
          <a:xfrm>
            <a:off x="566928" y="6419088"/>
            <a:ext cx="6400800" cy="201168"/>
          </a:xfrm>
          <a:prstGeom prst="rect">
            <a:avLst/>
          </a:prstGeom>
          <a:noFill/>
          <a:ln/>
        </p:spPr>
        <p:txBody>
          <a:bodyPr wrap="square" lIns="0" tIns="0" rIns="0" bIns="0" rtlCol="0" anchor="t"/>
          <a:lstStyle/>
          <a:p>
            <a:pPr indent="0" marL="0">
              <a:buNone/>
            </a:pPr>
            <a:r>
              <a:rPr lang="en-US" sz="900" dirty="0">
                <a:solidFill>
                  <a:srgbClr val="75706A"/>
                </a:solidFill>
                <a:latin typeface="Arial" pitchFamily="34" charset="0"/>
                <a:ea typeface="Arial" pitchFamily="34" charset="-122"/>
                <a:cs typeface="Arial" pitchFamily="34" charset="-120"/>
              </a:rPr>
              <a:t>PXEngine  ·  demo cut  ·  12 minutes</a:t>
            </a:r>
            <a:endParaRPr lang="en-US" sz="900" dirty="0"/>
          </a:p>
        </p:txBody>
      </p:sp>
      <p:sp>
        <p:nvSpPr>
          <p:cNvPr id="19" name="Text 15"/>
          <p:cNvSpPr/>
          <p:nvPr/>
        </p:nvSpPr>
        <p:spPr>
          <a:xfrm>
            <a:off x="11045952" y="6419088"/>
            <a:ext cx="548640" cy="201168"/>
          </a:xfrm>
          <a:prstGeom prst="rect">
            <a:avLst/>
          </a:prstGeom>
          <a:noFill/>
          <a:ln/>
        </p:spPr>
        <p:txBody>
          <a:bodyPr wrap="square" lIns="0" tIns="0" rIns="0" bIns="0" rtlCol="0" anchor="t"/>
          <a:lstStyle/>
          <a:p>
            <a:pPr algn="r" indent="0" marL="0">
              <a:buNone/>
            </a:pPr>
            <a:r>
              <a:rPr lang="en-US" sz="900" dirty="0">
                <a:solidFill>
                  <a:srgbClr val="75706A"/>
                </a:solidFill>
                <a:latin typeface="Arial" pitchFamily="34" charset="0"/>
                <a:ea typeface="Arial" pitchFamily="34" charset="-122"/>
                <a:cs typeface="Arial"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0A0A"/>
        </a:solidFill>
      </p:bgPr>
    </p:bg>
    <p:spTree>
      <p:nvGrpSpPr>
        <p:cNvPr id="1" name=""/>
        <p:cNvGrpSpPr/>
        <p:nvPr/>
      </p:nvGrpSpPr>
      <p:grpSpPr>
        <a:xfrm>
          <a:off x="0" y="0"/>
          <a:ext cx="0" cy="0"/>
          <a:chOff x="0" y="0"/>
          <a:chExt cx="0" cy="0"/>
        </a:xfrm>
      </p:grpSpPr>
      <p:sp>
        <p:nvSpPr>
          <p:cNvPr id="2" name="Text 0"/>
          <p:cNvSpPr/>
          <p:nvPr/>
        </p:nvSpPr>
        <p:spPr>
          <a:xfrm>
            <a:off x="566928" y="365760"/>
            <a:ext cx="11027664" cy="182880"/>
          </a:xfrm>
          <a:prstGeom prst="rect">
            <a:avLst/>
          </a:prstGeom>
          <a:noFill/>
          <a:ln/>
        </p:spPr>
        <p:txBody>
          <a:bodyPr wrap="square" lIns="0" tIns="0" rIns="0" bIns="0" rtlCol="0" anchor="t"/>
          <a:lstStyle/>
          <a:p>
            <a:pPr indent="0" marL="0">
              <a:buNone/>
            </a:pPr>
            <a:r>
              <a:rPr lang="en-US" sz="1000" b="1" spc="220" kern="0" dirty="0">
                <a:solidFill>
                  <a:srgbClr val="CBB78A"/>
                </a:solidFill>
                <a:latin typeface="Arial" pitchFamily="34" charset="0"/>
                <a:ea typeface="Arial" pitchFamily="34" charset="-122"/>
                <a:cs typeface="Arial" pitchFamily="34" charset="-120"/>
              </a:rPr>
              <a:t>STAGE 6 OF 7  ·  2 MIN  ·  DOCUMENTATION STEP 3.10</a:t>
            </a:r>
            <a:endParaRPr lang="en-US" sz="1000" dirty="0"/>
          </a:p>
        </p:txBody>
      </p:sp>
      <p:sp>
        <p:nvSpPr>
          <p:cNvPr id="3" name="Text 1"/>
          <p:cNvSpPr/>
          <p:nvPr/>
        </p:nvSpPr>
        <p:spPr>
          <a:xfrm>
            <a:off x="566928" y="585216"/>
            <a:ext cx="11027664" cy="457200"/>
          </a:xfrm>
          <a:prstGeom prst="rect">
            <a:avLst/>
          </a:prstGeom>
          <a:noFill/>
          <a:ln/>
        </p:spPr>
        <p:txBody>
          <a:bodyPr wrap="square" lIns="0" tIns="0" rIns="0" bIns="0" rtlCol="0" anchor="t"/>
          <a:lstStyle/>
          <a:p>
            <a:pPr indent="0" marL="0">
              <a:buNone/>
            </a:pPr>
            <a:r>
              <a:rPr lang="en-US" sz="2600" b="1" dirty="0">
                <a:solidFill>
                  <a:srgbClr val="EDEAE3"/>
                </a:solidFill>
                <a:latin typeface="Arial" pitchFamily="34" charset="0"/>
                <a:ea typeface="Arial" pitchFamily="34" charset="-122"/>
                <a:cs typeface="Arial" pitchFamily="34" charset="-120"/>
              </a:rPr>
              <a:t>Corrections are retained</a:t>
            </a:r>
            <a:endParaRPr lang="en-US" sz="2600" dirty="0"/>
          </a:p>
        </p:txBody>
      </p:sp>
      <p:sp>
        <p:nvSpPr>
          <p:cNvPr id="4" name="Text 2"/>
          <p:cNvSpPr/>
          <p:nvPr/>
        </p:nvSpPr>
        <p:spPr>
          <a:xfrm>
            <a:off x="566928" y="1097280"/>
            <a:ext cx="10661904" cy="237744"/>
          </a:xfrm>
          <a:prstGeom prst="rect">
            <a:avLst/>
          </a:prstGeom>
          <a:noFill/>
          <a:ln/>
        </p:spPr>
        <p:txBody>
          <a:bodyPr wrap="square" lIns="0" tIns="0" rIns="0" bIns="0" rtlCol="0" anchor="t"/>
          <a:lstStyle/>
          <a:p>
            <a:pPr indent="0" marL="0">
              <a:buNone/>
            </a:pPr>
            <a:r>
              <a:rPr lang="en-US" sz="1100" b="1" dirty="0">
                <a:solidFill>
                  <a:srgbClr val="CBB78A"/>
                </a:solidFill>
                <a:latin typeface="Arial" pitchFamily="34" charset="0"/>
                <a:ea typeface="Arial" pitchFamily="34" charset="-122"/>
                <a:cs typeface="Arial" pitchFamily="34" charset="-120"/>
              </a:rPr>
              <a:t>DEMO — Panda Express Monthly Report</a:t>
            </a:r>
            <a:pPr indent="0" marL="0">
              <a:buNone/>
            </a:pPr>
            <a:r>
              <a:rPr lang="en-US" sz="1100" dirty="0">
                <a:solidFill>
                  <a:srgbClr val="75706A"/>
                </a:solidFill>
                <a:latin typeface="Arial" pitchFamily="34" charset="0"/>
                <a:ea typeface="Arial" pitchFamily="34" charset="-122"/>
                <a:cs typeface="Arial" pitchFamily="34" charset="-120"/>
              </a:rPr>
              <a:t>   same thread</a:t>
            </a:r>
            <a:endParaRPr lang="en-US" sz="1100" dirty="0"/>
          </a:p>
        </p:txBody>
      </p:sp>
      <p:pic>
        <p:nvPicPr>
          <p:cNvPr id="5" name="Image 0" descr="preencoded.png">    </p:cNvPr>
          <p:cNvPicPr>
            <a:picLocks noChangeAspect="1"/>
          </p:cNvPicPr>
          <p:nvPr/>
        </p:nvPicPr>
        <p:blipFill>
          <a:blip r:embed="rId1"/>
          <a:stretch>
            <a:fillRect/>
          </a:stretch>
        </p:blipFill>
        <p:spPr>
          <a:xfrm>
            <a:off x="5541264" y="1627632"/>
            <a:ext cx="6053328" cy="3404997"/>
          </a:xfrm>
          <a:prstGeom prst="rect">
            <a:avLst/>
          </a:prstGeom>
        </p:spPr>
      </p:pic>
      <p:sp>
        <p:nvSpPr>
          <p:cNvPr id="6" name="Shape 3"/>
          <p:cNvSpPr/>
          <p:nvPr/>
        </p:nvSpPr>
        <p:spPr>
          <a:xfrm>
            <a:off x="5541264" y="1627632"/>
            <a:ext cx="6053328" cy="3404997"/>
          </a:xfrm>
          <a:prstGeom prst="rect">
            <a:avLst/>
          </a:prstGeom>
          <a:ln w="9525">
            <a:solidFill>
              <a:srgbClr val="26262B"/>
            </a:solidFill>
            <a:prstDash val="solid"/>
          </a:ln>
        </p:spPr>
      </p:sp>
      <p:sp>
        <p:nvSpPr>
          <p:cNvPr id="7" name="Text 4"/>
          <p:cNvSpPr/>
          <p:nvPr/>
        </p:nvSpPr>
        <p:spPr>
          <a:xfrm>
            <a:off x="5541264" y="5142357"/>
            <a:ext cx="6053328" cy="201168"/>
          </a:xfrm>
          <a:prstGeom prst="rect">
            <a:avLst/>
          </a:prstGeom>
          <a:noFill/>
          <a:ln/>
        </p:spPr>
        <p:txBody>
          <a:bodyPr wrap="square" lIns="0" tIns="0" rIns="0" bIns="0" rtlCol="0" anchor="t"/>
          <a:lstStyle/>
          <a:p>
            <a:pPr indent="0" marL="0">
              <a:buNone/>
            </a:pPr>
            <a:r>
              <a:rPr lang="en-US" sz="900" dirty="0">
                <a:solidFill>
                  <a:srgbClr val="75706A"/>
                </a:solidFill>
                <a:latin typeface="Arial" pitchFamily="34" charset="0"/>
                <a:ea typeface="Arial" pitchFamily="34" charset="-122"/>
                <a:cs typeface="Arial" pitchFamily="34" charset="-120"/>
              </a:rPr>
              <a:t>Documentation figure 3.10</a:t>
            </a:r>
            <a:endParaRPr lang="en-US" sz="900" dirty="0"/>
          </a:p>
        </p:txBody>
      </p:sp>
      <p:sp>
        <p:nvSpPr>
          <p:cNvPr id="8" name="Text 5"/>
          <p:cNvSpPr/>
          <p:nvPr/>
        </p:nvSpPr>
        <p:spPr>
          <a:xfrm>
            <a:off x="566928" y="1664208"/>
            <a:ext cx="2743200" cy="164592"/>
          </a:xfrm>
          <a:prstGeom prst="rect">
            <a:avLst/>
          </a:prstGeom>
          <a:noFill/>
          <a:ln/>
        </p:spPr>
        <p:txBody>
          <a:bodyPr wrap="square" lIns="0" tIns="0" rIns="0" bIns="0" rtlCol="0" anchor="t"/>
          <a:lstStyle/>
          <a:p>
            <a:pPr indent="0" marL="0">
              <a:buNone/>
            </a:pPr>
            <a:r>
              <a:rPr lang="en-US" sz="850" b="1" spc="160" kern="0" dirty="0">
                <a:solidFill>
                  <a:srgbClr val="75706A"/>
                </a:solidFill>
                <a:latin typeface="Arial" pitchFamily="34" charset="0"/>
                <a:ea typeface="Arial" pitchFamily="34" charset="-122"/>
                <a:cs typeface="Arial" pitchFamily="34" charset="-120"/>
              </a:rPr>
              <a:t>SHOW</a:t>
            </a:r>
            <a:endParaRPr lang="en-US" sz="850" dirty="0"/>
          </a:p>
        </p:txBody>
      </p:sp>
      <p:sp>
        <p:nvSpPr>
          <p:cNvPr id="9" name="Text 6"/>
          <p:cNvSpPr/>
          <p:nvPr/>
        </p:nvSpPr>
        <p:spPr>
          <a:xfrm>
            <a:off x="566928" y="1865376"/>
            <a:ext cx="4572000" cy="731520"/>
          </a:xfrm>
          <a:prstGeom prst="rect">
            <a:avLst/>
          </a:prstGeom>
          <a:noFill/>
          <a:ln/>
        </p:spPr>
        <p:txBody>
          <a:bodyPr wrap="square" lIns="0" tIns="0" rIns="0" bIns="0" rtlCol="0" anchor="t"/>
          <a:lstStyle/>
          <a:p>
            <a:pPr indent="0" marL="0">
              <a:lnSpc>
                <a:spcPts val="1900"/>
              </a:lnSpc>
              <a:buNone/>
            </a:pPr>
            <a:r>
              <a:rPr lang="en-US" sz="1300" dirty="0">
                <a:solidFill>
                  <a:srgbClr val="EDEAE3"/>
                </a:solidFill>
                <a:latin typeface="Arial" pitchFamily="34" charset="0"/>
                <a:ea typeface="Arial" pitchFamily="34" charset="-122"/>
                <a:cs typeface="Arial" pitchFamily="34" charset="-120"/>
              </a:rPr>
              <a:t>Lock as default for all future presentations, then Approve format.</a:t>
            </a:r>
            <a:endParaRPr lang="en-US" sz="1300" dirty="0"/>
          </a:p>
        </p:txBody>
      </p:sp>
      <p:sp>
        <p:nvSpPr>
          <p:cNvPr id="10" name="Text 7"/>
          <p:cNvSpPr/>
          <p:nvPr/>
        </p:nvSpPr>
        <p:spPr>
          <a:xfrm>
            <a:off x="566928" y="2743200"/>
            <a:ext cx="2743200" cy="164592"/>
          </a:xfrm>
          <a:prstGeom prst="rect">
            <a:avLst/>
          </a:prstGeom>
          <a:noFill/>
          <a:ln/>
        </p:spPr>
        <p:txBody>
          <a:bodyPr wrap="square" lIns="0" tIns="0" rIns="0" bIns="0" rtlCol="0" anchor="t"/>
          <a:lstStyle/>
          <a:p>
            <a:pPr indent="0" marL="0">
              <a:buNone/>
            </a:pPr>
            <a:r>
              <a:rPr lang="en-US" sz="850" b="1" spc="160" kern="0" dirty="0">
                <a:solidFill>
                  <a:srgbClr val="75706A"/>
                </a:solidFill>
                <a:latin typeface="Arial" pitchFamily="34" charset="0"/>
                <a:ea typeface="Arial" pitchFamily="34" charset="-122"/>
                <a:cs typeface="Arial" pitchFamily="34" charset="-120"/>
              </a:rPr>
              <a:t>EXPLAIN</a:t>
            </a:r>
            <a:endParaRPr lang="en-US" sz="850" dirty="0"/>
          </a:p>
        </p:txBody>
      </p:sp>
      <p:sp>
        <p:nvSpPr>
          <p:cNvPr id="11" name="Text 8"/>
          <p:cNvSpPr/>
          <p:nvPr/>
        </p:nvSpPr>
        <p:spPr>
          <a:xfrm>
            <a:off x="566928" y="2944368"/>
            <a:ext cx="4572000" cy="1463040"/>
          </a:xfrm>
          <a:prstGeom prst="rect">
            <a:avLst/>
          </a:prstGeom>
          <a:noFill/>
          <a:ln/>
        </p:spPr>
        <p:txBody>
          <a:bodyPr wrap="square" lIns="0" tIns="0" rIns="0" bIns="0" rtlCol="0" anchor="t"/>
          <a:lstStyle/>
          <a:p>
            <a:pPr indent="0" marL="0">
              <a:lnSpc>
                <a:spcPts val="1900"/>
              </a:lnSpc>
              <a:buNone/>
            </a:pPr>
            <a:r>
              <a:rPr lang="en-US" sz="1250" dirty="0">
                <a:solidFill>
                  <a:srgbClr val="A8A39B"/>
                </a:solidFill>
                <a:latin typeface="Arial" pitchFamily="34" charset="0"/>
                <a:ea typeface="Arial" pitchFamily="34" charset="-122"/>
                <a:cs typeface="Arial" pitchFamily="34" charset="-120"/>
              </a:rPr>
              <a:t>A corrected format becomes the standing default. The next run inherits it — no prompt is written and no model is trained.</a:t>
            </a:r>
            <a:endParaRPr lang="en-US" sz="1250" dirty="0"/>
          </a:p>
        </p:txBody>
      </p:sp>
      <p:sp>
        <p:nvSpPr>
          <p:cNvPr id="12" name="Shape 9"/>
          <p:cNvSpPr/>
          <p:nvPr/>
        </p:nvSpPr>
        <p:spPr>
          <a:xfrm>
            <a:off x="566928" y="4517136"/>
            <a:ext cx="4572000" cy="1097280"/>
          </a:xfrm>
          <a:prstGeom prst="roundRect">
            <a:avLst>
              <a:gd name="adj" fmla="val 5000"/>
            </a:avLst>
          </a:prstGeom>
          <a:solidFill>
            <a:srgbClr val="1C1913"/>
          </a:solidFill>
          <a:ln w="9525">
            <a:solidFill>
              <a:srgbClr val="4A422F"/>
            </a:solidFill>
            <a:prstDash val="solid"/>
          </a:ln>
        </p:spPr>
      </p:sp>
      <p:sp>
        <p:nvSpPr>
          <p:cNvPr id="13" name="Text 10"/>
          <p:cNvSpPr/>
          <p:nvPr/>
        </p:nvSpPr>
        <p:spPr>
          <a:xfrm>
            <a:off x="786384" y="4700016"/>
            <a:ext cx="2743200" cy="164592"/>
          </a:xfrm>
          <a:prstGeom prst="rect">
            <a:avLst/>
          </a:prstGeom>
          <a:noFill/>
          <a:ln/>
        </p:spPr>
        <p:txBody>
          <a:bodyPr wrap="square" lIns="0" tIns="0" rIns="0" bIns="0" rtlCol="0" anchor="t"/>
          <a:lstStyle/>
          <a:p>
            <a:pPr indent="0" marL="0">
              <a:buNone/>
            </a:pPr>
            <a:r>
              <a:rPr lang="en-US" sz="850" b="1" spc="160" kern="0" dirty="0">
                <a:solidFill>
                  <a:srgbClr val="CBB78A"/>
                </a:solidFill>
                <a:latin typeface="Arial" pitchFamily="34" charset="0"/>
                <a:ea typeface="Arial" pitchFamily="34" charset="-122"/>
                <a:cs typeface="Arial" pitchFamily="34" charset="-120"/>
              </a:rPr>
              <a:t>ANSWERS</a:t>
            </a:r>
            <a:endParaRPr lang="en-US" sz="850" dirty="0"/>
          </a:p>
        </p:txBody>
      </p:sp>
      <p:sp>
        <p:nvSpPr>
          <p:cNvPr id="14" name="Text 11"/>
          <p:cNvSpPr/>
          <p:nvPr/>
        </p:nvSpPr>
        <p:spPr>
          <a:xfrm>
            <a:off x="786384" y="4919472"/>
            <a:ext cx="4133088" cy="603504"/>
          </a:xfrm>
          <a:prstGeom prst="rect">
            <a:avLst/>
          </a:prstGeom>
          <a:noFill/>
          <a:ln/>
        </p:spPr>
        <p:txBody>
          <a:bodyPr wrap="square" lIns="0" tIns="0" rIns="0" bIns="0" rtlCol="0" anchor="t"/>
          <a:lstStyle/>
          <a:p>
            <a:pPr indent="0" marL="0">
              <a:lnSpc>
                <a:spcPts val="1700"/>
              </a:lnSpc>
              <a:buNone/>
            </a:pPr>
            <a:r>
              <a:rPr lang="en-US" sz="1200" i="1" dirty="0">
                <a:solidFill>
                  <a:srgbClr val="EDEAE3"/>
                </a:solidFill>
                <a:latin typeface="Arial" pitchFamily="34" charset="0"/>
                <a:ea typeface="Arial" pitchFamily="34" charset="-122"/>
                <a:cs typeface="Arial" pitchFamily="34" charset="-120"/>
              </a:rPr>
              <a:t>“Do I have to re-explain this every month?”</a:t>
            </a:r>
            <a:endParaRPr lang="en-US" sz="1200" dirty="0"/>
          </a:p>
        </p:txBody>
      </p:sp>
      <p:sp>
        <p:nvSpPr>
          <p:cNvPr id="15" name="Text 12"/>
          <p:cNvSpPr/>
          <p:nvPr/>
        </p:nvSpPr>
        <p:spPr>
          <a:xfrm>
            <a:off x="566928" y="5779008"/>
            <a:ext cx="4572000" cy="219456"/>
          </a:xfrm>
          <a:prstGeom prst="rect">
            <a:avLst/>
          </a:prstGeom>
          <a:noFill/>
          <a:ln/>
        </p:spPr>
        <p:txBody>
          <a:bodyPr wrap="square" lIns="0" tIns="0" rIns="0" bIns="0" rtlCol="0" anchor="t"/>
          <a:lstStyle/>
          <a:p>
            <a:pPr indent="0" marL="0">
              <a:buNone/>
            </a:pPr>
            <a:r>
              <a:rPr lang="en-US" sz="950" dirty="0">
                <a:solidFill>
                  <a:srgbClr val="75706A"/>
                </a:solidFill>
                <a:latin typeface="Arial" pitchFamily="34" charset="0"/>
                <a:ea typeface="Arial" pitchFamily="34" charset="-122"/>
                <a:cs typeface="Arial" pitchFamily="34" charset="-120"/>
              </a:rPr>
              <a:t>F36   ·   F37   ·   F38</a:t>
            </a:r>
            <a:endParaRPr lang="en-US" sz="950" dirty="0"/>
          </a:p>
        </p:txBody>
      </p:sp>
      <p:sp>
        <p:nvSpPr>
          <p:cNvPr id="17" name="Shape 13"/>
          <p:cNvSpPr/>
          <p:nvPr/>
        </p:nvSpPr>
        <p:spPr>
          <a:xfrm>
            <a:off x="566928" y="6345936"/>
            <a:ext cx="11027664" cy="0"/>
          </a:xfrm>
          <a:prstGeom prst="line">
            <a:avLst/>
          </a:prstGeom>
          <a:noFill/>
          <a:ln w="9525">
            <a:solidFill>
              <a:srgbClr val="26262B"/>
            </a:solidFill>
            <a:prstDash val="solid"/>
          </a:ln>
        </p:spPr>
      </p:sp>
      <p:sp>
        <p:nvSpPr>
          <p:cNvPr id="18" name="Text 14"/>
          <p:cNvSpPr/>
          <p:nvPr/>
        </p:nvSpPr>
        <p:spPr>
          <a:xfrm>
            <a:off x="566928" y="6419088"/>
            <a:ext cx="6400800" cy="201168"/>
          </a:xfrm>
          <a:prstGeom prst="rect">
            <a:avLst/>
          </a:prstGeom>
          <a:noFill/>
          <a:ln/>
        </p:spPr>
        <p:txBody>
          <a:bodyPr wrap="square" lIns="0" tIns="0" rIns="0" bIns="0" rtlCol="0" anchor="t"/>
          <a:lstStyle/>
          <a:p>
            <a:pPr indent="0" marL="0">
              <a:buNone/>
            </a:pPr>
            <a:r>
              <a:rPr lang="en-US" sz="900" dirty="0">
                <a:solidFill>
                  <a:srgbClr val="75706A"/>
                </a:solidFill>
                <a:latin typeface="Arial" pitchFamily="34" charset="0"/>
                <a:ea typeface="Arial" pitchFamily="34" charset="-122"/>
                <a:cs typeface="Arial" pitchFamily="34" charset="-120"/>
              </a:rPr>
              <a:t>PXEngine  ·  demo cut  ·  12 minutes</a:t>
            </a:r>
            <a:endParaRPr lang="en-US" sz="900" dirty="0"/>
          </a:p>
        </p:txBody>
      </p:sp>
      <p:sp>
        <p:nvSpPr>
          <p:cNvPr id="19" name="Text 15"/>
          <p:cNvSpPr/>
          <p:nvPr/>
        </p:nvSpPr>
        <p:spPr>
          <a:xfrm>
            <a:off x="11045952" y="6419088"/>
            <a:ext cx="548640" cy="201168"/>
          </a:xfrm>
          <a:prstGeom prst="rect">
            <a:avLst/>
          </a:prstGeom>
          <a:noFill/>
          <a:ln/>
        </p:spPr>
        <p:txBody>
          <a:bodyPr wrap="square" lIns="0" tIns="0" rIns="0" bIns="0" rtlCol="0" anchor="t"/>
          <a:lstStyle/>
          <a:p>
            <a:pPr algn="r" indent="0" marL="0">
              <a:buNone/>
            </a:pPr>
            <a:r>
              <a:rPr lang="en-US" sz="900" dirty="0">
                <a:solidFill>
                  <a:srgbClr val="75706A"/>
                </a:solidFill>
                <a:latin typeface="Arial" pitchFamily="34" charset="0"/>
                <a:ea typeface="Arial" pitchFamily="34" charset="-122"/>
                <a:cs typeface="Arial"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0A0A"/>
        </a:solidFill>
      </p:bgPr>
    </p:bg>
    <p:spTree>
      <p:nvGrpSpPr>
        <p:cNvPr id="1" name=""/>
        <p:cNvGrpSpPr/>
        <p:nvPr/>
      </p:nvGrpSpPr>
      <p:grpSpPr>
        <a:xfrm>
          <a:off x="0" y="0"/>
          <a:ext cx="0" cy="0"/>
          <a:chOff x="0" y="0"/>
          <a:chExt cx="0" cy="0"/>
        </a:xfrm>
      </p:grpSpPr>
      <p:sp>
        <p:nvSpPr>
          <p:cNvPr id="2" name="Text 0"/>
          <p:cNvSpPr/>
          <p:nvPr/>
        </p:nvSpPr>
        <p:spPr>
          <a:xfrm>
            <a:off x="566928" y="365760"/>
            <a:ext cx="11027664" cy="182880"/>
          </a:xfrm>
          <a:prstGeom prst="rect">
            <a:avLst/>
          </a:prstGeom>
          <a:noFill/>
          <a:ln/>
        </p:spPr>
        <p:txBody>
          <a:bodyPr wrap="square" lIns="0" tIns="0" rIns="0" bIns="0" rtlCol="0" anchor="t"/>
          <a:lstStyle/>
          <a:p>
            <a:pPr indent="0" marL="0">
              <a:buNone/>
            </a:pPr>
            <a:r>
              <a:rPr lang="en-US" sz="1000" b="1" spc="220" kern="0" dirty="0">
                <a:solidFill>
                  <a:srgbClr val="CBB78A"/>
                </a:solidFill>
                <a:latin typeface="Arial" pitchFamily="34" charset="0"/>
                <a:ea typeface="Arial" pitchFamily="34" charset="-122"/>
                <a:cs typeface="Arial" pitchFamily="34" charset="-120"/>
              </a:rPr>
              <a:t>STAGE 7 OF 7  ·  2 MIN  ·  DOCUMENTATION STEP 3.12</a:t>
            </a:r>
            <a:endParaRPr lang="en-US" sz="1000" dirty="0"/>
          </a:p>
        </p:txBody>
      </p:sp>
      <p:sp>
        <p:nvSpPr>
          <p:cNvPr id="3" name="Text 1"/>
          <p:cNvSpPr/>
          <p:nvPr/>
        </p:nvSpPr>
        <p:spPr>
          <a:xfrm>
            <a:off x="566928" y="585216"/>
            <a:ext cx="11027664" cy="457200"/>
          </a:xfrm>
          <a:prstGeom prst="rect">
            <a:avLst/>
          </a:prstGeom>
          <a:noFill/>
          <a:ln/>
        </p:spPr>
        <p:txBody>
          <a:bodyPr wrap="square" lIns="0" tIns="0" rIns="0" bIns="0" rtlCol="0" anchor="t"/>
          <a:lstStyle/>
          <a:p>
            <a:pPr indent="0" marL="0">
              <a:buNone/>
            </a:pPr>
            <a:r>
              <a:rPr lang="en-US" sz="2600" b="1" dirty="0">
                <a:solidFill>
                  <a:srgbClr val="EDEAE3"/>
                </a:solidFill>
                <a:latin typeface="Arial" pitchFamily="34" charset="0"/>
                <a:ea typeface="Arial" pitchFamily="34" charset="-122"/>
                <a:cs typeface="Arial" pitchFamily="34" charset="-120"/>
              </a:rPr>
              <a:t>It tests itself</a:t>
            </a:r>
            <a:endParaRPr lang="en-US" sz="2600" dirty="0"/>
          </a:p>
        </p:txBody>
      </p:sp>
      <p:sp>
        <p:nvSpPr>
          <p:cNvPr id="4" name="Text 2"/>
          <p:cNvSpPr/>
          <p:nvPr/>
        </p:nvSpPr>
        <p:spPr>
          <a:xfrm>
            <a:off x="566928" y="1097280"/>
            <a:ext cx="10661904" cy="237744"/>
          </a:xfrm>
          <a:prstGeom prst="rect">
            <a:avLst/>
          </a:prstGeom>
          <a:noFill/>
          <a:ln/>
        </p:spPr>
        <p:txBody>
          <a:bodyPr wrap="square" lIns="0" tIns="0" rIns="0" bIns="0" rtlCol="0" anchor="t"/>
          <a:lstStyle/>
          <a:p>
            <a:pPr indent="0" marL="0">
              <a:buNone/>
            </a:pPr>
            <a:r>
              <a:rPr lang="en-US" sz="1100" b="1" dirty="0">
                <a:solidFill>
                  <a:srgbClr val="CBB78A"/>
                </a:solidFill>
                <a:latin typeface="Arial" pitchFamily="34" charset="0"/>
                <a:ea typeface="Arial" pitchFamily="34" charset="-122"/>
                <a:cs typeface="Arial" pitchFamily="34" charset="-120"/>
              </a:rPr>
              <a:t>BigQuery Monthly Report</a:t>
            </a:r>
            <a:pPr indent="0" marL="0">
              <a:buNone/>
            </a:pPr>
            <a:r>
              <a:rPr lang="en-US" sz="1100" dirty="0">
                <a:solidFill>
                  <a:srgbClr val="75706A"/>
                </a:solidFill>
                <a:latin typeface="Arial" pitchFamily="34" charset="0"/>
                <a:ea typeface="Arial" pitchFamily="34" charset="-122"/>
                <a:cs typeface="Arial" pitchFamily="34" charset="-120"/>
              </a:rPr>
              <a:t>   switch workstream</a:t>
            </a:r>
            <a:endParaRPr lang="en-US" sz="1100" dirty="0"/>
          </a:p>
        </p:txBody>
      </p:sp>
      <p:pic>
        <p:nvPicPr>
          <p:cNvPr id="5" name="Image 0" descr="preencoded.png">    </p:cNvPr>
          <p:cNvPicPr>
            <a:picLocks noChangeAspect="1"/>
          </p:cNvPicPr>
          <p:nvPr/>
        </p:nvPicPr>
        <p:blipFill>
          <a:blip r:embed="rId1"/>
          <a:stretch>
            <a:fillRect/>
          </a:stretch>
        </p:blipFill>
        <p:spPr>
          <a:xfrm>
            <a:off x="5541264" y="1627632"/>
            <a:ext cx="6053328" cy="3404997"/>
          </a:xfrm>
          <a:prstGeom prst="rect">
            <a:avLst/>
          </a:prstGeom>
        </p:spPr>
      </p:pic>
      <p:sp>
        <p:nvSpPr>
          <p:cNvPr id="6" name="Shape 3"/>
          <p:cNvSpPr/>
          <p:nvPr/>
        </p:nvSpPr>
        <p:spPr>
          <a:xfrm>
            <a:off x="5541264" y="1627632"/>
            <a:ext cx="6053328" cy="3404997"/>
          </a:xfrm>
          <a:prstGeom prst="rect">
            <a:avLst/>
          </a:prstGeom>
          <a:ln w="9525">
            <a:solidFill>
              <a:srgbClr val="26262B"/>
            </a:solidFill>
            <a:prstDash val="solid"/>
          </a:ln>
        </p:spPr>
      </p:sp>
      <p:sp>
        <p:nvSpPr>
          <p:cNvPr id="7" name="Text 4"/>
          <p:cNvSpPr/>
          <p:nvPr/>
        </p:nvSpPr>
        <p:spPr>
          <a:xfrm>
            <a:off x="5541264" y="5142357"/>
            <a:ext cx="6053328" cy="201168"/>
          </a:xfrm>
          <a:prstGeom prst="rect">
            <a:avLst/>
          </a:prstGeom>
          <a:noFill/>
          <a:ln/>
        </p:spPr>
        <p:txBody>
          <a:bodyPr wrap="square" lIns="0" tIns="0" rIns="0" bIns="0" rtlCol="0" anchor="t"/>
          <a:lstStyle/>
          <a:p>
            <a:pPr indent="0" marL="0">
              <a:buNone/>
            </a:pPr>
            <a:r>
              <a:rPr lang="en-US" sz="900" dirty="0">
                <a:solidFill>
                  <a:srgbClr val="75706A"/>
                </a:solidFill>
                <a:latin typeface="Arial" pitchFamily="34" charset="0"/>
                <a:ea typeface="Arial" pitchFamily="34" charset="-122"/>
                <a:cs typeface="Arial" pitchFamily="34" charset="-120"/>
              </a:rPr>
              <a:t>Documentation figure 3.12</a:t>
            </a:r>
            <a:endParaRPr lang="en-US" sz="900" dirty="0"/>
          </a:p>
        </p:txBody>
      </p:sp>
      <p:sp>
        <p:nvSpPr>
          <p:cNvPr id="8" name="Text 5"/>
          <p:cNvSpPr/>
          <p:nvPr/>
        </p:nvSpPr>
        <p:spPr>
          <a:xfrm>
            <a:off x="566928" y="1664208"/>
            <a:ext cx="2743200" cy="164592"/>
          </a:xfrm>
          <a:prstGeom prst="rect">
            <a:avLst/>
          </a:prstGeom>
          <a:noFill/>
          <a:ln/>
        </p:spPr>
        <p:txBody>
          <a:bodyPr wrap="square" lIns="0" tIns="0" rIns="0" bIns="0" rtlCol="0" anchor="t"/>
          <a:lstStyle/>
          <a:p>
            <a:pPr indent="0" marL="0">
              <a:buNone/>
            </a:pPr>
            <a:r>
              <a:rPr lang="en-US" sz="850" b="1" spc="160" kern="0" dirty="0">
                <a:solidFill>
                  <a:srgbClr val="75706A"/>
                </a:solidFill>
                <a:latin typeface="Arial" pitchFamily="34" charset="0"/>
                <a:ea typeface="Arial" pitchFamily="34" charset="-122"/>
                <a:cs typeface="Arial" pitchFamily="34" charset="-120"/>
              </a:rPr>
              <a:t>SHOW</a:t>
            </a:r>
            <a:endParaRPr lang="en-US" sz="850" dirty="0"/>
          </a:p>
        </p:txBody>
      </p:sp>
      <p:sp>
        <p:nvSpPr>
          <p:cNvPr id="9" name="Text 6"/>
          <p:cNvSpPr/>
          <p:nvPr/>
        </p:nvSpPr>
        <p:spPr>
          <a:xfrm>
            <a:off x="566928" y="1865376"/>
            <a:ext cx="4572000" cy="731520"/>
          </a:xfrm>
          <a:prstGeom prst="rect">
            <a:avLst/>
          </a:prstGeom>
          <a:noFill/>
          <a:ln/>
        </p:spPr>
        <p:txBody>
          <a:bodyPr wrap="square" lIns="0" tIns="0" rIns="0" bIns="0" rtlCol="0" anchor="t"/>
          <a:lstStyle/>
          <a:p>
            <a:pPr indent="0" marL="0">
              <a:lnSpc>
                <a:spcPts val="1900"/>
              </a:lnSpc>
              <a:buNone/>
            </a:pPr>
            <a:r>
              <a:rPr lang="en-US" sz="1300" dirty="0">
                <a:solidFill>
                  <a:srgbClr val="EDEAE3"/>
                </a:solidFill>
                <a:latin typeface="Arial" pitchFamily="34" charset="0"/>
                <a:ea typeface="Arial" pitchFamily="34" charset="-122"/>
                <a:cs typeface="Arial" pitchFamily="34" charset="-120"/>
              </a:rPr>
              <a:t>The Self-Healing tab: validation status, a browser test running, the escalated issues.</a:t>
            </a:r>
            <a:endParaRPr lang="en-US" sz="1300" dirty="0"/>
          </a:p>
        </p:txBody>
      </p:sp>
      <p:sp>
        <p:nvSpPr>
          <p:cNvPr id="10" name="Text 7"/>
          <p:cNvSpPr/>
          <p:nvPr/>
        </p:nvSpPr>
        <p:spPr>
          <a:xfrm>
            <a:off x="566928" y="2743200"/>
            <a:ext cx="2743200" cy="164592"/>
          </a:xfrm>
          <a:prstGeom prst="rect">
            <a:avLst/>
          </a:prstGeom>
          <a:noFill/>
          <a:ln/>
        </p:spPr>
        <p:txBody>
          <a:bodyPr wrap="square" lIns="0" tIns="0" rIns="0" bIns="0" rtlCol="0" anchor="t"/>
          <a:lstStyle/>
          <a:p>
            <a:pPr indent="0" marL="0">
              <a:buNone/>
            </a:pPr>
            <a:r>
              <a:rPr lang="en-US" sz="850" b="1" spc="160" kern="0" dirty="0">
                <a:solidFill>
                  <a:srgbClr val="75706A"/>
                </a:solidFill>
                <a:latin typeface="Arial" pitchFamily="34" charset="0"/>
                <a:ea typeface="Arial" pitchFamily="34" charset="-122"/>
                <a:cs typeface="Arial" pitchFamily="34" charset="-120"/>
              </a:rPr>
              <a:t>EXPLAIN</a:t>
            </a:r>
            <a:endParaRPr lang="en-US" sz="850" dirty="0"/>
          </a:p>
        </p:txBody>
      </p:sp>
      <p:sp>
        <p:nvSpPr>
          <p:cNvPr id="11" name="Text 8"/>
          <p:cNvSpPr/>
          <p:nvPr/>
        </p:nvSpPr>
        <p:spPr>
          <a:xfrm>
            <a:off x="566928" y="2944368"/>
            <a:ext cx="4572000" cy="1463040"/>
          </a:xfrm>
          <a:prstGeom prst="rect">
            <a:avLst/>
          </a:prstGeom>
          <a:noFill/>
          <a:ln/>
        </p:spPr>
        <p:txBody>
          <a:bodyPr wrap="square" lIns="0" tIns="0" rIns="0" bIns="0" rtlCol="0" anchor="t"/>
          <a:lstStyle/>
          <a:p>
            <a:pPr indent="0" marL="0">
              <a:lnSpc>
                <a:spcPts val="1900"/>
              </a:lnSpc>
              <a:buNone/>
            </a:pPr>
            <a:r>
              <a:rPr lang="en-US" sz="1250" dirty="0">
                <a:solidFill>
                  <a:srgbClr val="A8A39B"/>
                </a:solidFill>
                <a:latin typeface="Arial" pitchFamily="34" charset="0"/>
                <a:ea typeface="Arial" pitchFamily="34" charset="-122"/>
                <a:cs typeface="Arial" pitchFamily="34" charset="-120"/>
              </a:rPr>
              <a:t>The platform drives its own workflows in a real browser, applies the fixes it can, and reports the ones it cannot as escalations with Retry, Flag and Skip.</a:t>
            </a:r>
            <a:endParaRPr lang="en-US" sz="1250" dirty="0"/>
          </a:p>
        </p:txBody>
      </p:sp>
      <p:sp>
        <p:nvSpPr>
          <p:cNvPr id="12" name="Shape 9"/>
          <p:cNvSpPr/>
          <p:nvPr/>
        </p:nvSpPr>
        <p:spPr>
          <a:xfrm>
            <a:off x="566928" y="4517136"/>
            <a:ext cx="4572000" cy="1097280"/>
          </a:xfrm>
          <a:prstGeom prst="roundRect">
            <a:avLst>
              <a:gd name="adj" fmla="val 5000"/>
            </a:avLst>
          </a:prstGeom>
          <a:solidFill>
            <a:srgbClr val="1C1913"/>
          </a:solidFill>
          <a:ln w="9525">
            <a:solidFill>
              <a:srgbClr val="4A422F"/>
            </a:solidFill>
            <a:prstDash val="solid"/>
          </a:ln>
        </p:spPr>
      </p:sp>
      <p:sp>
        <p:nvSpPr>
          <p:cNvPr id="13" name="Text 10"/>
          <p:cNvSpPr/>
          <p:nvPr/>
        </p:nvSpPr>
        <p:spPr>
          <a:xfrm>
            <a:off x="786384" y="4700016"/>
            <a:ext cx="2743200" cy="164592"/>
          </a:xfrm>
          <a:prstGeom prst="rect">
            <a:avLst/>
          </a:prstGeom>
          <a:noFill/>
          <a:ln/>
        </p:spPr>
        <p:txBody>
          <a:bodyPr wrap="square" lIns="0" tIns="0" rIns="0" bIns="0" rtlCol="0" anchor="t"/>
          <a:lstStyle/>
          <a:p>
            <a:pPr indent="0" marL="0">
              <a:buNone/>
            </a:pPr>
            <a:r>
              <a:rPr lang="en-US" sz="850" b="1" spc="160" kern="0" dirty="0">
                <a:solidFill>
                  <a:srgbClr val="CBB78A"/>
                </a:solidFill>
                <a:latin typeface="Arial" pitchFamily="34" charset="0"/>
                <a:ea typeface="Arial" pitchFamily="34" charset="-122"/>
                <a:cs typeface="Arial" pitchFamily="34" charset="-120"/>
              </a:rPr>
              <a:t>ANSWERS</a:t>
            </a:r>
            <a:endParaRPr lang="en-US" sz="850" dirty="0"/>
          </a:p>
        </p:txBody>
      </p:sp>
      <p:sp>
        <p:nvSpPr>
          <p:cNvPr id="14" name="Text 11"/>
          <p:cNvSpPr/>
          <p:nvPr/>
        </p:nvSpPr>
        <p:spPr>
          <a:xfrm>
            <a:off x="786384" y="4919472"/>
            <a:ext cx="4133088" cy="603504"/>
          </a:xfrm>
          <a:prstGeom prst="rect">
            <a:avLst/>
          </a:prstGeom>
          <a:noFill/>
          <a:ln/>
        </p:spPr>
        <p:txBody>
          <a:bodyPr wrap="square" lIns="0" tIns="0" rIns="0" bIns="0" rtlCol="0" anchor="t"/>
          <a:lstStyle/>
          <a:p>
            <a:pPr indent="0" marL="0">
              <a:lnSpc>
                <a:spcPts val="1700"/>
              </a:lnSpc>
              <a:buNone/>
            </a:pPr>
            <a:r>
              <a:rPr lang="en-US" sz="1200" i="1" dirty="0">
                <a:solidFill>
                  <a:srgbClr val="EDEAE3"/>
                </a:solidFill>
                <a:latin typeface="Arial" pitchFamily="34" charset="0"/>
                <a:ea typeface="Arial" pitchFamily="34" charset="-122"/>
                <a:cs typeface="Arial" pitchFamily="34" charset="-120"/>
              </a:rPr>
              <a:t>“What happens when it gets something wrong?”</a:t>
            </a:r>
            <a:endParaRPr lang="en-US" sz="1200" dirty="0"/>
          </a:p>
        </p:txBody>
      </p:sp>
      <p:sp>
        <p:nvSpPr>
          <p:cNvPr id="15" name="Text 12"/>
          <p:cNvSpPr/>
          <p:nvPr/>
        </p:nvSpPr>
        <p:spPr>
          <a:xfrm>
            <a:off x="566928" y="5779008"/>
            <a:ext cx="4572000" cy="219456"/>
          </a:xfrm>
          <a:prstGeom prst="rect">
            <a:avLst/>
          </a:prstGeom>
          <a:noFill/>
          <a:ln/>
        </p:spPr>
        <p:txBody>
          <a:bodyPr wrap="square" lIns="0" tIns="0" rIns="0" bIns="0" rtlCol="0" anchor="t"/>
          <a:lstStyle/>
          <a:p>
            <a:pPr indent="0" marL="0">
              <a:buNone/>
            </a:pPr>
            <a:r>
              <a:rPr lang="en-US" sz="950" dirty="0">
                <a:solidFill>
                  <a:srgbClr val="75706A"/>
                </a:solidFill>
                <a:latin typeface="Arial" pitchFamily="34" charset="0"/>
                <a:ea typeface="Arial" pitchFamily="34" charset="-122"/>
                <a:cs typeface="Arial" pitchFamily="34" charset="-120"/>
              </a:rPr>
              <a:t>F66   ·   F67   ·   F68   ·   F69   ·   F70   ·   F77   ·   F79   ·   F80   ·   F81</a:t>
            </a:r>
            <a:endParaRPr lang="en-US" sz="950" dirty="0"/>
          </a:p>
        </p:txBody>
      </p:sp>
      <p:sp>
        <p:nvSpPr>
          <p:cNvPr id="17" name="Shape 13"/>
          <p:cNvSpPr/>
          <p:nvPr/>
        </p:nvSpPr>
        <p:spPr>
          <a:xfrm>
            <a:off x="566928" y="6345936"/>
            <a:ext cx="11027664" cy="0"/>
          </a:xfrm>
          <a:prstGeom prst="line">
            <a:avLst/>
          </a:prstGeom>
          <a:noFill/>
          <a:ln w="9525">
            <a:solidFill>
              <a:srgbClr val="26262B"/>
            </a:solidFill>
            <a:prstDash val="solid"/>
          </a:ln>
        </p:spPr>
      </p:sp>
      <p:sp>
        <p:nvSpPr>
          <p:cNvPr id="18" name="Text 14"/>
          <p:cNvSpPr/>
          <p:nvPr/>
        </p:nvSpPr>
        <p:spPr>
          <a:xfrm>
            <a:off x="566928" y="6419088"/>
            <a:ext cx="6400800" cy="201168"/>
          </a:xfrm>
          <a:prstGeom prst="rect">
            <a:avLst/>
          </a:prstGeom>
          <a:noFill/>
          <a:ln/>
        </p:spPr>
        <p:txBody>
          <a:bodyPr wrap="square" lIns="0" tIns="0" rIns="0" bIns="0" rtlCol="0" anchor="t"/>
          <a:lstStyle/>
          <a:p>
            <a:pPr indent="0" marL="0">
              <a:buNone/>
            </a:pPr>
            <a:r>
              <a:rPr lang="en-US" sz="900" dirty="0">
                <a:solidFill>
                  <a:srgbClr val="75706A"/>
                </a:solidFill>
                <a:latin typeface="Arial" pitchFamily="34" charset="0"/>
                <a:ea typeface="Arial" pitchFamily="34" charset="-122"/>
                <a:cs typeface="Arial" pitchFamily="34" charset="-120"/>
              </a:rPr>
              <a:t>PXEngine  ·  demo cut  ·  12 minutes</a:t>
            </a:r>
            <a:endParaRPr lang="en-US" sz="900" dirty="0"/>
          </a:p>
        </p:txBody>
      </p:sp>
      <p:sp>
        <p:nvSpPr>
          <p:cNvPr id="19" name="Text 15"/>
          <p:cNvSpPr/>
          <p:nvPr/>
        </p:nvSpPr>
        <p:spPr>
          <a:xfrm>
            <a:off x="11045952" y="6419088"/>
            <a:ext cx="548640" cy="201168"/>
          </a:xfrm>
          <a:prstGeom prst="rect">
            <a:avLst/>
          </a:prstGeom>
          <a:noFill/>
          <a:ln/>
        </p:spPr>
        <p:txBody>
          <a:bodyPr wrap="square" lIns="0" tIns="0" rIns="0" bIns="0" rtlCol="0" anchor="t"/>
          <a:lstStyle/>
          <a:p>
            <a:pPr algn="r" indent="0" marL="0">
              <a:buNone/>
            </a:pPr>
            <a:r>
              <a:rPr lang="en-US" sz="900" dirty="0">
                <a:solidFill>
                  <a:srgbClr val="75706A"/>
                </a:solidFill>
                <a:latin typeface="Arial" pitchFamily="34" charset="0"/>
                <a:ea typeface="Arial" pitchFamily="34" charset="-122"/>
                <a:cs typeface="Arial"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0A0A"/>
        </a:solidFill>
      </p:bgPr>
    </p:bg>
    <p:spTree>
      <p:nvGrpSpPr>
        <p:cNvPr id="1" name=""/>
        <p:cNvGrpSpPr/>
        <p:nvPr/>
      </p:nvGrpSpPr>
      <p:grpSpPr>
        <a:xfrm>
          <a:off x="0" y="0"/>
          <a:ext cx="0" cy="0"/>
          <a:chOff x="0" y="0"/>
          <a:chExt cx="0" cy="0"/>
        </a:xfrm>
      </p:grpSpPr>
      <p:sp>
        <p:nvSpPr>
          <p:cNvPr id="2" name="Text 0"/>
          <p:cNvSpPr/>
          <p:nvPr/>
        </p:nvSpPr>
        <p:spPr>
          <a:xfrm>
            <a:off x="566928" y="365760"/>
            <a:ext cx="11027664" cy="182880"/>
          </a:xfrm>
          <a:prstGeom prst="rect">
            <a:avLst/>
          </a:prstGeom>
          <a:noFill/>
          <a:ln/>
        </p:spPr>
        <p:txBody>
          <a:bodyPr wrap="square" lIns="0" tIns="0" rIns="0" bIns="0" rtlCol="0" anchor="t"/>
          <a:lstStyle/>
          <a:p>
            <a:pPr indent="0" marL="0">
              <a:buNone/>
            </a:pPr>
            <a:r>
              <a:rPr lang="en-US" sz="1000" b="1" spc="220" kern="0" dirty="0">
                <a:solidFill>
                  <a:srgbClr val="CBB78A"/>
                </a:solidFill>
                <a:latin typeface="Arial" pitchFamily="34" charset="0"/>
                <a:ea typeface="Arial" pitchFamily="34" charset="-122"/>
                <a:cs typeface="Arial" pitchFamily="34" charset="-120"/>
              </a:rPr>
              <a:t>PREPARATION</a:t>
            </a:r>
            <a:endParaRPr lang="en-US" sz="1000" dirty="0"/>
          </a:p>
        </p:txBody>
      </p:sp>
      <p:sp>
        <p:nvSpPr>
          <p:cNvPr id="3" name="Text 1"/>
          <p:cNvSpPr/>
          <p:nvPr/>
        </p:nvSpPr>
        <p:spPr>
          <a:xfrm>
            <a:off x="566928" y="585216"/>
            <a:ext cx="11027664" cy="457200"/>
          </a:xfrm>
          <a:prstGeom prst="rect">
            <a:avLst/>
          </a:prstGeom>
          <a:noFill/>
          <a:ln/>
        </p:spPr>
        <p:txBody>
          <a:bodyPr wrap="square" lIns="0" tIns="0" rIns="0" bIns="0" rtlCol="0" anchor="t"/>
          <a:lstStyle/>
          <a:p>
            <a:pPr indent="0" marL="0">
              <a:buNone/>
            </a:pPr>
            <a:r>
              <a:rPr lang="en-US" sz="2600" b="1" dirty="0">
                <a:solidFill>
                  <a:srgbClr val="EDEAE3"/>
                </a:solidFill>
                <a:latin typeface="Arial" pitchFamily="34" charset="0"/>
                <a:ea typeface="Arial" pitchFamily="34" charset="-122"/>
                <a:cs typeface="Arial" pitchFamily="34" charset="-120"/>
              </a:rPr>
              <a:t>Before you run it live</a:t>
            </a:r>
            <a:endParaRPr lang="en-US" sz="2600" dirty="0"/>
          </a:p>
        </p:txBody>
      </p:sp>
      <p:sp>
        <p:nvSpPr>
          <p:cNvPr id="4" name="Text 2"/>
          <p:cNvSpPr/>
          <p:nvPr/>
        </p:nvSpPr>
        <p:spPr>
          <a:xfrm>
            <a:off x="566928" y="1097280"/>
            <a:ext cx="10661904" cy="292608"/>
          </a:xfrm>
          <a:prstGeom prst="rect">
            <a:avLst/>
          </a:prstGeom>
          <a:noFill/>
          <a:ln/>
        </p:spPr>
        <p:txBody>
          <a:bodyPr wrap="square" lIns="0" tIns="0" rIns="0" bIns="0" rtlCol="0" anchor="t"/>
          <a:lstStyle/>
          <a:p>
            <a:pPr indent="0" marL="0">
              <a:buNone/>
            </a:pPr>
            <a:r>
              <a:rPr lang="en-US" sz="1200" dirty="0">
                <a:solidFill>
                  <a:srgbClr val="A8A39B"/>
                </a:solidFill>
                <a:latin typeface="Arial" pitchFamily="34" charset="0"/>
                <a:ea typeface="Arial" pitchFamily="34" charset="-122"/>
                <a:cs typeface="Arial" pitchFamily="34" charset="-120"/>
              </a:rPr>
              <a:t>Four things that break the sequence.</a:t>
            </a:r>
            <a:endParaRPr lang="en-US" sz="1200" dirty="0"/>
          </a:p>
        </p:txBody>
      </p:sp>
      <p:sp>
        <p:nvSpPr>
          <p:cNvPr id="5" name="Shape 3"/>
          <p:cNvSpPr/>
          <p:nvPr/>
        </p:nvSpPr>
        <p:spPr>
          <a:xfrm>
            <a:off x="566928" y="1828800"/>
            <a:ext cx="5404104" cy="1225296"/>
          </a:xfrm>
          <a:prstGeom prst="roundRect">
            <a:avLst>
              <a:gd name="adj" fmla="val 4478"/>
            </a:avLst>
          </a:prstGeom>
          <a:solidFill>
            <a:srgbClr val="16161A"/>
          </a:solidFill>
          <a:ln w="9525">
            <a:solidFill>
              <a:srgbClr val="26262B"/>
            </a:solidFill>
            <a:prstDash val="solid"/>
          </a:ln>
        </p:spPr>
      </p:sp>
      <p:sp>
        <p:nvSpPr>
          <p:cNvPr id="6" name="Shape 4"/>
          <p:cNvSpPr/>
          <p:nvPr/>
        </p:nvSpPr>
        <p:spPr>
          <a:xfrm>
            <a:off x="822960" y="2139696"/>
            <a:ext cx="91440" cy="91440"/>
          </a:xfrm>
          <a:prstGeom prst="rect">
            <a:avLst/>
          </a:prstGeom>
          <a:solidFill>
            <a:srgbClr val="FCC311"/>
          </a:solidFill>
          <a:ln w="12700">
            <a:solidFill>
              <a:srgbClr val="FCC311"/>
            </a:solidFill>
            <a:prstDash val="solid"/>
          </a:ln>
        </p:spPr>
      </p:sp>
      <p:sp>
        <p:nvSpPr>
          <p:cNvPr id="7" name="Text 5"/>
          <p:cNvSpPr/>
          <p:nvPr/>
        </p:nvSpPr>
        <p:spPr>
          <a:xfrm>
            <a:off x="1042416" y="2066544"/>
            <a:ext cx="4672584" cy="256032"/>
          </a:xfrm>
          <a:prstGeom prst="rect">
            <a:avLst/>
          </a:prstGeom>
          <a:noFill/>
          <a:ln/>
        </p:spPr>
        <p:txBody>
          <a:bodyPr wrap="square" lIns="0" tIns="0" rIns="0" bIns="0" rtlCol="0" anchor="t"/>
          <a:lstStyle/>
          <a:p>
            <a:pPr indent="0" marL="0">
              <a:buNone/>
            </a:pPr>
            <a:r>
              <a:rPr lang="en-US" sz="1350" b="1" dirty="0">
                <a:solidFill>
                  <a:srgbClr val="EDEAE3"/>
                </a:solidFill>
                <a:latin typeface="Arial" pitchFamily="34" charset="0"/>
                <a:ea typeface="Arial" pitchFamily="34" charset="-122"/>
                <a:cs typeface="Arial" pitchFamily="34" charset="-120"/>
              </a:rPr>
              <a:t>Sign in before you start</a:t>
            </a:r>
            <a:endParaRPr lang="en-US" sz="1350" dirty="0"/>
          </a:p>
        </p:txBody>
      </p:sp>
      <p:sp>
        <p:nvSpPr>
          <p:cNvPr id="8" name="Text 6"/>
          <p:cNvSpPr/>
          <p:nvPr/>
        </p:nvSpPr>
        <p:spPr>
          <a:xfrm>
            <a:off x="1042416" y="2377440"/>
            <a:ext cx="4672584" cy="548640"/>
          </a:xfrm>
          <a:prstGeom prst="rect">
            <a:avLst/>
          </a:prstGeom>
          <a:noFill/>
          <a:ln/>
        </p:spPr>
        <p:txBody>
          <a:bodyPr wrap="square" lIns="0" tIns="0" rIns="0" bIns="0" rtlCol="0" anchor="t"/>
          <a:lstStyle/>
          <a:p>
            <a:pPr indent="0" marL="0">
              <a:lnSpc>
                <a:spcPts val="1700"/>
              </a:lnSpc>
              <a:buNone/>
            </a:pPr>
            <a:r>
              <a:rPr lang="en-US" sz="1150" dirty="0">
                <a:solidFill>
                  <a:srgbClr val="A8A39B"/>
                </a:solidFill>
                <a:latin typeface="Arial" pitchFamily="34" charset="0"/>
                <a:ea typeface="Arial" pitchFamily="34" charset="-122"/>
                <a:cs typeface="Arial" pitchFamily="34" charset="-120"/>
              </a:rPr>
              <a:t>The session expires after roughly an hour idle.</a:t>
            </a:r>
            <a:endParaRPr lang="en-US" sz="1150" dirty="0"/>
          </a:p>
        </p:txBody>
      </p:sp>
      <p:sp>
        <p:nvSpPr>
          <p:cNvPr id="9" name="Shape 7"/>
          <p:cNvSpPr/>
          <p:nvPr/>
        </p:nvSpPr>
        <p:spPr>
          <a:xfrm>
            <a:off x="6190488" y="1828800"/>
            <a:ext cx="5404104" cy="1225296"/>
          </a:xfrm>
          <a:prstGeom prst="roundRect">
            <a:avLst>
              <a:gd name="adj" fmla="val 4478"/>
            </a:avLst>
          </a:prstGeom>
          <a:solidFill>
            <a:srgbClr val="16161A"/>
          </a:solidFill>
          <a:ln w="9525">
            <a:solidFill>
              <a:srgbClr val="26262B"/>
            </a:solidFill>
            <a:prstDash val="solid"/>
          </a:ln>
        </p:spPr>
      </p:sp>
      <p:sp>
        <p:nvSpPr>
          <p:cNvPr id="10" name="Shape 8"/>
          <p:cNvSpPr/>
          <p:nvPr/>
        </p:nvSpPr>
        <p:spPr>
          <a:xfrm>
            <a:off x="6446520" y="2139696"/>
            <a:ext cx="91440" cy="91440"/>
          </a:xfrm>
          <a:prstGeom prst="rect">
            <a:avLst/>
          </a:prstGeom>
          <a:solidFill>
            <a:srgbClr val="FCC311"/>
          </a:solidFill>
          <a:ln w="12700">
            <a:solidFill>
              <a:srgbClr val="FCC311"/>
            </a:solidFill>
            <a:prstDash val="solid"/>
          </a:ln>
        </p:spPr>
      </p:sp>
      <p:sp>
        <p:nvSpPr>
          <p:cNvPr id="11" name="Text 9"/>
          <p:cNvSpPr/>
          <p:nvPr/>
        </p:nvSpPr>
        <p:spPr>
          <a:xfrm>
            <a:off x="6665976" y="2066544"/>
            <a:ext cx="4672584" cy="256032"/>
          </a:xfrm>
          <a:prstGeom prst="rect">
            <a:avLst/>
          </a:prstGeom>
          <a:noFill/>
          <a:ln/>
        </p:spPr>
        <p:txBody>
          <a:bodyPr wrap="square" lIns="0" tIns="0" rIns="0" bIns="0" rtlCol="0" anchor="t"/>
          <a:lstStyle/>
          <a:p>
            <a:pPr indent="0" marL="0">
              <a:buNone/>
            </a:pPr>
            <a:r>
              <a:rPr lang="en-US" sz="1350" b="1" dirty="0">
                <a:solidFill>
                  <a:srgbClr val="EDEAE3"/>
                </a:solidFill>
                <a:latin typeface="Arial" pitchFamily="34" charset="0"/>
                <a:ea typeface="Arial" pitchFamily="34" charset="-122"/>
                <a:cs typeface="Arial" pitchFamily="34" charset="-120"/>
              </a:rPr>
              <a:t>Confirm the deck is Landscape</a:t>
            </a:r>
            <a:endParaRPr lang="en-US" sz="1350" dirty="0"/>
          </a:p>
        </p:txBody>
      </p:sp>
      <p:sp>
        <p:nvSpPr>
          <p:cNvPr id="12" name="Text 10"/>
          <p:cNvSpPr/>
          <p:nvPr/>
        </p:nvSpPr>
        <p:spPr>
          <a:xfrm>
            <a:off x="6665976" y="2377440"/>
            <a:ext cx="4672584" cy="548640"/>
          </a:xfrm>
          <a:prstGeom prst="rect">
            <a:avLst/>
          </a:prstGeom>
          <a:noFill/>
          <a:ln/>
        </p:spPr>
        <p:txBody>
          <a:bodyPr wrap="square" lIns="0" tIns="0" rIns="0" bIns="0" rtlCol="0" anchor="t"/>
          <a:lstStyle/>
          <a:p>
            <a:pPr indent="0" marL="0">
              <a:lnSpc>
                <a:spcPts val="1700"/>
              </a:lnSpc>
              <a:buNone/>
            </a:pPr>
            <a:r>
              <a:rPr lang="en-US" sz="1150" dirty="0">
                <a:solidFill>
                  <a:srgbClr val="A8A39B"/>
                </a:solidFill>
                <a:latin typeface="Arial" pitchFamily="34" charset="0"/>
                <a:ea typeface="Arial" pitchFamily="34" charset="-122"/>
                <a:cs typeface="Arial" pitchFamily="34" charset="-120"/>
              </a:rPr>
              <a:t>Orientation persists between sessions; only a reload reverts it.</a:t>
            </a:r>
            <a:endParaRPr lang="en-US" sz="1150" dirty="0"/>
          </a:p>
        </p:txBody>
      </p:sp>
      <p:sp>
        <p:nvSpPr>
          <p:cNvPr id="13" name="Shape 11"/>
          <p:cNvSpPr/>
          <p:nvPr/>
        </p:nvSpPr>
        <p:spPr>
          <a:xfrm>
            <a:off x="566928" y="3273552"/>
            <a:ext cx="5404104" cy="1225296"/>
          </a:xfrm>
          <a:prstGeom prst="roundRect">
            <a:avLst>
              <a:gd name="adj" fmla="val 4478"/>
            </a:avLst>
          </a:prstGeom>
          <a:solidFill>
            <a:srgbClr val="16161A"/>
          </a:solidFill>
          <a:ln w="9525">
            <a:solidFill>
              <a:srgbClr val="26262B"/>
            </a:solidFill>
            <a:prstDash val="solid"/>
          </a:ln>
        </p:spPr>
      </p:sp>
      <p:sp>
        <p:nvSpPr>
          <p:cNvPr id="14" name="Shape 12"/>
          <p:cNvSpPr/>
          <p:nvPr/>
        </p:nvSpPr>
        <p:spPr>
          <a:xfrm>
            <a:off x="822960" y="3584448"/>
            <a:ext cx="91440" cy="91440"/>
          </a:xfrm>
          <a:prstGeom prst="rect">
            <a:avLst/>
          </a:prstGeom>
          <a:solidFill>
            <a:srgbClr val="FCC311"/>
          </a:solidFill>
          <a:ln w="12700">
            <a:solidFill>
              <a:srgbClr val="FCC311"/>
            </a:solidFill>
            <a:prstDash val="solid"/>
          </a:ln>
        </p:spPr>
      </p:sp>
      <p:sp>
        <p:nvSpPr>
          <p:cNvPr id="15" name="Text 13"/>
          <p:cNvSpPr/>
          <p:nvPr/>
        </p:nvSpPr>
        <p:spPr>
          <a:xfrm>
            <a:off x="1042416" y="3511296"/>
            <a:ext cx="4672584" cy="256032"/>
          </a:xfrm>
          <a:prstGeom prst="rect">
            <a:avLst/>
          </a:prstGeom>
          <a:noFill/>
          <a:ln/>
        </p:spPr>
        <p:txBody>
          <a:bodyPr wrap="square" lIns="0" tIns="0" rIns="0" bIns="0" rtlCol="0" anchor="t"/>
          <a:lstStyle/>
          <a:p>
            <a:pPr indent="0" marL="0">
              <a:buNone/>
            </a:pPr>
            <a:r>
              <a:rPr lang="en-US" sz="1350" b="1" dirty="0">
                <a:solidFill>
                  <a:srgbClr val="EDEAE3"/>
                </a:solidFill>
                <a:latin typeface="Arial" pitchFamily="34" charset="0"/>
                <a:ea typeface="Arial" pitchFamily="34" charset="-122"/>
                <a:cs typeface="Arial" pitchFamily="34" charset="-120"/>
              </a:rPr>
              <a:t>Leave both outline cards unapproved</a:t>
            </a:r>
            <a:endParaRPr lang="en-US" sz="1350" dirty="0"/>
          </a:p>
        </p:txBody>
      </p:sp>
      <p:sp>
        <p:nvSpPr>
          <p:cNvPr id="16" name="Text 14"/>
          <p:cNvSpPr/>
          <p:nvPr/>
        </p:nvSpPr>
        <p:spPr>
          <a:xfrm>
            <a:off x="1042416" y="3822192"/>
            <a:ext cx="4672584" cy="548640"/>
          </a:xfrm>
          <a:prstGeom prst="rect">
            <a:avLst/>
          </a:prstGeom>
          <a:noFill/>
          <a:ln/>
        </p:spPr>
        <p:txBody>
          <a:bodyPr wrap="square" lIns="0" tIns="0" rIns="0" bIns="0" rtlCol="0" anchor="t"/>
          <a:lstStyle/>
          <a:p>
            <a:pPr indent="0" marL="0">
              <a:lnSpc>
                <a:spcPts val="1700"/>
              </a:lnSpc>
              <a:buNone/>
            </a:pPr>
            <a:r>
              <a:rPr lang="en-US" sz="1150" dirty="0">
                <a:solidFill>
                  <a:srgbClr val="A8A39B"/>
                </a:solidFill>
                <a:latin typeface="Arial" pitchFamily="34" charset="0"/>
                <a:ea typeface="Arial" pitchFamily="34" charset="-122"/>
                <a:cs typeface="Arial" pitchFamily="34" charset="-120"/>
              </a:rPr>
              <a:t>Stages 3 and 5 depend on them. Approving removes the card.</a:t>
            </a:r>
            <a:endParaRPr lang="en-US" sz="1150" dirty="0"/>
          </a:p>
        </p:txBody>
      </p:sp>
      <p:sp>
        <p:nvSpPr>
          <p:cNvPr id="17" name="Shape 15"/>
          <p:cNvSpPr/>
          <p:nvPr/>
        </p:nvSpPr>
        <p:spPr>
          <a:xfrm>
            <a:off x="6190488" y="3273552"/>
            <a:ext cx="5404104" cy="1225296"/>
          </a:xfrm>
          <a:prstGeom prst="roundRect">
            <a:avLst>
              <a:gd name="adj" fmla="val 4478"/>
            </a:avLst>
          </a:prstGeom>
          <a:solidFill>
            <a:srgbClr val="16161A"/>
          </a:solidFill>
          <a:ln w="9525">
            <a:solidFill>
              <a:srgbClr val="26262B"/>
            </a:solidFill>
            <a:prstDash val="solid"/>
          </a:ln>
        </p:spPr>
      </p:sp>
      <p:sp>
        <p:nvSpPr>
          <p:cNvPr id="18" name="Shape 16"/>
          <p:cNvSpPr/>
          <p:nvPr/>
        </p:nvSpPr>
        <p:spPr>
          <a:xfrm>
            <a:off x="6446520" y="3584448"/>
            <a:ext cx="91440" cy="91440"/>
          </a:xfrm>
          <a:prstGeom prst="rect">
            <a:avLst/>
          </a:prstGeom>
          <a:solidFill>
            <a:srgbClr val="FCC311"/>
          </a:solidFill>
          <a:ln w="12700">
            <a:solidFill>
              <a:srgbClr val="FCC311"/>
            </a:solidFill>
            <a:prstDash val="solid"/>
          </a:ln>
        </p:spPr>
      </p:sp>
      <p:sp>
        <p:nvSpPr>
          <p:cNvPr id="19" name="Text 17"/>
          <p:cNvSpPr/>
          <p:nvPr/>
        </p:nvSpPr>
        <p:spPr>
          <a:xfrm>
            <a:off x="6665976" y="3511296"/>
            <a:ext cx="4672584" cy="256032"/>
          </a:xfrm>
          <a:prstGeom prst="rect">
            <a:avLst/>
          </a:prstGeom>
          <a:noFill/>
          <a:ln/>
        </p:spPr>
        <p:txBody>
          <a:bodyPr wrap="square" lIns="0" tIns="0" rIns="0" bIns="0" rtlCol="0" anchor="t"/>
          <a:lstStyle/>
          <a:p>
            <a:pPr indent="0" marL="0">
              <a:buNone/>
            </a:pPr>
            <a:r>
              <a:rPr lang="en-US" sz="1350" b="1" dirty="0">
                <a:solidFill>
                  <a:srgbClr val="EDEAE3"/>
                </a:solidFill>
                <a:latin typeface="Arial" pitchFamily="34" charset="0"/>
                <a:ea typeface="Arial" pitchFamily="34" charset="-122"/>
                <a:cs typeface="Arial" pitchFamily="34" charset="-120"/>
              </a:rPr>
              <a:t>Stay out of Organization → Errors</a:t>
            </a:r>
            <a:endParaRPr lang="en-US" sz="1350" dirty="0"/>
          </a:p>
        </p:txBody>
      </p:sp>
      <p:sp>
        <p:nvSpPr>
          <p:cNvPr id="20" name="Text 18"/>
          <p:cNvSpPr/>
          <p:nvPr/>
        </p:nvSpPr>
        <p:spPr>
          <a:xfrm>
            <a:off x="6665976" y="3822192"/>
            <a:ext cx="4672584" cy="548640"/>
          </a:xfrm>
          <a:prstGeom prst="rect">
            <a:avLst/>
          </a:prstGeom>
          <a:noFill/>
          <a:ln/>
        </p:spPr>
        <p:txBody>
          <a:bodyPr wrap="square" lIns="0" tIns="0" rIns="0" bIns="0" rtlCol="0" anchor="t"/>
          <a:lstStyle/>
          <a:p>
            <a:pPr indent="0" marL="0">
              <a:lnSpc>
                <a:spcPts val="1700"/>
              </a:lnSpc>
              <a:buNone/>
            </a:pPr>
            <a:r>
              <a:rPr lang="en-US" sz="1150" dirty="0">
                <a:solidFill>
                  <a:srgbClr val="A8A39B"/>
                </a:solidFill>
                <a:latin typeface="Arial" pitchFamily="34" charset="0"/>
                <a:ea typeface="Arial" pitchFamily="34" charset="-122"/>
                <a:cs typeface="Arial" pitchFamily="34" charset="-120"/>
              </a:rPr>
              <a:t>It lists open reports org-wide. The Self-Healing tab covers the same ground in context.</a:t>
            </a:r>
            <a:endParaRPr lang="en-US" sz="1150" dirty="0"/>
          </a:p>
        </p:txBody>
      </p:sp>
      <p:sp>
        <p:nvSpPr>
          <p:cNvPr id="21" name="Text 19"/>
          <p:cNvSpPr/>
          <p:nvPr/>
        </p:nvSpPr>
        <p:spPr>
          <a:xfrm>
            <a:off x="566928" y="4663440"/>
            <a:ext cx="11027664" cy="457200"/>
          </a:xfrm>
          <a:prstGeom prst="rect">
            <a:avLst/>
          </a:prstGeom>
          <a:noFill/>
          <a:ln/>
        </p:spPr>
        <p:txBody>
          <a:bodyPr wrap="square" lIns="0" tIns="0" rIns="0" bIns="0" rtlCol="0" anchor="t"/>
          <a:lstStyle/>
          <a:p>
            <a:pPr indent="0" marL="0">
              <a:lnSpc>
                <a:spcPts val="1800"/>
              </a:lnSpc>
              <a:buNone/>
            </a:pPr>
            <a:r>
              <a:rPr lang="en-US" sz="1150" dirty="0">
                <a:solidFill>
                  <a:srgbClr val="75706A"/>
                </a:solidFill>
                <a:latin typeface="Arial" pitchFamily="34" charset="0"/>
                <a:ea typeface="Arial" pitchFamily="34" charset="-122"/>
                <a:cs typeface="Arial" pitchFamily="34" charset="-120"/>
              </a:rPr>
              <a:t>Both outline cards referenced at stages 3 and 5 exist only while unapproved. Approving one removes it, and producing another takes about six minutes.</a:t>
            </a:r>
            <a:endParaRPr lang="en-US" sz="1150" dirty="0"/>
          </a:p>
        </p:txBody>
      </p:sp>
      <p:sp>
        <p:nvSpPr>
          <p:cNvPr id="22" name="Shape 20"/>
          <p:cNvSpPr/>
          <p:nvPr/>
        </p:nvSpPr>
        <p:spPr>
          <a:xfrm>
            <a:off x="566928" y="6345936"/>
            <a:ext cx="11027664" cy="0"/>
          </a:xfrm>
          <a:prstGeom prst="line">
            <a:avLst/>
          </a:prstGeom>
          <a:noFill/>
          <a:ln w="9525">
            <a:solidFill>
              <a:srgbClr val="26262B"/>
            </a:solidFill>
            <a:prstDash val="solid"/>
          </a:ln>
        </p:spPr>
      </p:sp>
      <p:sp>
        <p:nvSpPr>
          <p:cNvPr id="23" name="Text 21"/>
          <p:cNvSpPr/>
          <p:nvPr/>
        </p:nvSpPr>
        <p:spPr>
          <a:xfrm>
            <a:off x="566928" y="6419088"/>
            <a:ext cx="6400800" cy="201168"/>
          </a:xfrm>
          <a:prstGeom prst="rect">
            <a:avLst/>
          </a:prstGeom>
          <a:noFill/>
          <a:ln/>
        </p:spPr>
        <p:txBody>
          <a:bodyPr wrap="square" lIns="0" tIns="0" rIns="0" bIns="0" rtlCol="0" anchor="t"/>
          <a:lstStyle/>
          <a:p>
            <a:pPr indent="0" marL="0">
              <a:buNone/>
            </a:pPr>
            <a:r>
              <a:rPr lang="en-US" sz="900" dirty="0">
                <a:solidFill>
                  <a:srgbClr val="75706A"/>
                </a:solidFill>
                <a:latin typeface="Arial" pitchFamily="34" charset="0"/>
                <a:ea typeface="Arial" pitchFamily="34" charset="-122"/>
                <a:cs typeface="Arial" pitchFamily="34" charset="-120"/>
              </a:rPr>
              <a:t>PXEngine  ·  demo cut  ·  12 minutes</a:t>
            </a:r>
            <a:endParaRPr lang="en-US" sz="900" dirty="0"/>
          </a:p>
        </p:txBody>
      </p:sp>
      <p:sp>
        <p:nvSpPr>
          <p:cNvPr id="24" name="Text 22"/>
          <p:cNvSpPr/>
          <p:nvPr/>
        </p:nvSpPr>
        <p:spPr>
          <a:xfrm>
            <a:off x="11045952" y="6419088"/>
            <a:ext cx="548640" cy="201168"/>
          </a:xfrm>
          <a:prstGeom prst="rect">
            <a:avLst/>
          </a:prstGeom>
          <a:noFill/>
          <a:ln/>
        </p:spPr>
        <p:txBody>
          <a:bodyPr wrap="square" lIns="0" tIns="0" rIns="0" bIns="0" rtlCol="0" anchor="t"/>
          <a:lstStyle/>
          <a:p>
            <a:pPr algn="r" indent="0" marL="0">
              <a:buNone/>
            </a:pPr>
            <a:r>
              <a:rPr lang="en-US" sz="900" dirty="0">
                <a:solidFill>
                  <a:srgbClr val="75706A"/>
                </a:solidFill>
                <a:latin typeface="Arial" pitchFamily="34" charset="0"/>
                <a:ea typeface="Arial" pitchFamily="34" charset="-122"/>
                <a:cs typeface="Arial"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0A0A"/>
        </a:solidFill>
      </p:bgPr>
    </p:bg>
    <p:spTree>
      <p:nvGrpSpPr>
        <p:cNvPr id="1" name=""/>
        <p:cNvGrpSpPr/>
        <p:nvPr/>
      </p:nvGrpSpPr>
      <p:grpSpPr>
        <a:xfrm>
          <a:off x="0" y="0"/>
          <a:ext cx="0" cy="0"/>
          <a:chOff x="0" y="0"/>
          <a:chExt cx="0" cy="0"/>
        </a:xfrm>
      </p:grpSpPr>
      <p:sp>
        <p:nvSpPr>
          <p:cNvPr id="2" name="Text 0"/>
          <p:cNvSpPr/>
          <p:nvPr/>
        </p:nvSpPr>
        <p:spPr>
          <a:xfrm>
            <a:off x="566928" y="365760"/>
            <a:ext cx="11027664" cy="182880"/>
          </a:xfrm>
          <a:prstGeom prst="rect">
            <a:avLst/>
          </a:prstGeom>
          <a:noFill/>
          <a:ln/>
        </p:spPr>
        <p:txBody>
          <a:bodyPr wrap="square" lIns="0" tIns="0" rIns="0" bIns="0" rtlCol="0" anchor="t"/>
          <a:lstStyle/>
          <a:p>
            <a:pPr indent="0" marL="0">
              <a:buNone/>
            </a:pPr>
            <a:r>
              <a:rPr lang="en-US" sz="1000" b="1" spc="220" kern="0" dirty="0">
                <a:solidFill>
                  <a:srgbClr val="CBB78A"/>
                </a:solidFill>
                <a:latin typeface="Arial" pitchFamily="34" charset="0"/>
                <a:ea typeface="Arial" pitchFamily="34" charset="-122"/>
                <a:cs typeface="Arial" pitchFamily="34" charset="-120"/>
              </a:rPr>
              <a:t>QUESTIONS</a:t>
            </a:r>
            <a:endParaRPr lang="en-US" sz="1000" dirty="0"/>
          </a:p>
        </p:txBody>
      </p:sp>
      <p:sp>
        <p:nvSpPr>
          <p:cNvPr id="3" name="Text 1"/>
          <p:cNvSpPr/>
          <p:nvPr/>
        </p:nvSpPr>
        <p:spPr>
          <a:xfrm>
            <a:off x="566928" y="585216"/>
            <a:ext cx="11027664" cy="457200"/>
          </a:xfrm>
          <a:prstGeom prst="rect">
            <a:avLst/>
          </a:prstGeom>
          <a:noFill/>
          <a:ln/>
        </p:spPr>
        <p:txBody>
          <a:bodyPr wrap="square" lIns="0" tIns="0" rIns="0" bIns="0" rtlCol="0" anchor="t"/>
          <a:lstStyle/>
          <a:p>
            <a:pPr indent="0" marL="0">
              <a:buNone/>
            </a:pPr>
            <a:r>
              <a:rPr lang="en-US" sz="2600" b="1" dirty="0">
                <a:solidFill>
                  <a:srgbClr val="EDEAE3"/>
                </a:solidFill>
                <a:latin typeface="Arial" pitchFamily="34" charset="0"/>
                <a:ea typeface="Arial" pitchFamily="34" charset="-122"/>
                <a:cs typeface="Arial" pitchFamily="34" charset="-120"/>
              </a:rPr>
              <a:t>If they ask</a:t>
            </a:r>
            <a:endParaRPr lang="en-US" sz="2600" dirty="0"/>
          </a:p>
        </p:txBody>
      </p:sp>
      <p:sp>
        <p:nvSpPr>
          <p:cNvPr id="4" name="Text 2"/>
          <p:cNvSpPr/>
          <p:nvPr/>
        </p:nvSpPr>
        <p:spPr>
          <a:xfrm>
            <a:off x="566928" y="1097280"/>
            <a:ext cx="10661904" cy="292608"/>
          </a:xfrm>
          <a:prstGeom prst="rect">
            <a:avLst/>
          </a:prstGeom>
          <a:noFill/>
          <a:ln/>
        </p:spPr>
        <p:txBody>
          <a:bodyPr wrap="square" lIns="0" tIns="0" rIns="0" bIns="0" rtlCol="0" anchor="t"/>
          <a:lstStyle/>
          <a:p>
            <a:pPr indent="0" marL="0">
              <a:buNone/>
            </a:pPr>
            <a:r>
              <a:rPr lang="en-US" sz="1200" dirty="0">
                <a:solidFill>
                  <a:srgbClr val="A8A39B"/>
                </a:solidFill>
                <a:latin typeface="Arial" pitchFamily="34" charset="0"/>
                <a:ea typeface="Arial" pitchFamily="34" charset="-122"/>
                <a:cs typeface="Arial" pitchFamily="34" charset="-120"/>
              </a:rPr>
              <a:t>The four that come up, and the answer that holds.</a:t>
            </a:r>
            <a:endParaRPr lang="en-US" sz="1200" dirty="0"/>
          </a:p>
        </p:txBody>
      </p:sp>
      <p:sp>
        <p:nvSpPr>
          <p:cNvPr id="5" name="Shape 3"/>
          <p:cNvSpPr/>
          <p:nvPr/>
        </p:nvSpPr>
        <p:spPr>
          <a:xfrm>
            <a:off x="566928" y="1773936"/>
            <a:ext cx="5404104" cy="1572768"/>
          </a:xfrm>
          <a:prstGeom prst="roundRect">
            <a:avLst>
              <a:gd name="adj" fmla="val 3488"/>
            </a:avLst>
          </a:prstGeom>
          <a:solidFill>
            <a:srgbClr val="16161A"/>
          </a:solidFill>
          <a:ln w="9525">
            <a:solidFill>
              <a:srgbClr val="26262B"/>
            </a:solidFill>
            <a:prstDash val="solid"/>
          </a:ln>
        </p:spPr>
      </p:sp>
      <p:sp>
        <p:nvSpPr>
          <p:cNvPr id="6" name="Text 4"/>
          <p:cNvSpPr/>
          <p:nvPr/>
        </p:nvSpPr>
        <p:spPr>
          <a:xfrm>
            <a:off x="822960" y="1993392"/>
            <a:ext cx="4581144" cy="274320"/>
          </a:xfrm>
          <a:prstGeom prst="rect">
            <a:avLst/>
          </a:prstGeom>
          <a:noFill/>
          <a:ln/>
        </p:spPr>
        <p:txBody>
          <a:bodyPr wrap="square" lIns="0" tIns="0" rIns="0" bIns="0" rtlCol="0" anchor="t"/>
          <a:lstStyle/>
          <a:p>
            <a:pPr indent="0" marL="0">
              <a:buNone/>
            </a:pPr>
            <a:r>
              <a:rPr lang="en-US" sz="1350" b="1" dirty="0">
                <a:solidFill>
                  <a:srgbClr val="EDEAE3"/>
                </a:solidFill>
                <a:latin typeface="Arial" pitchFamily="34" charset="0"/>
                <a:ea typeface="Arial" pitchFamily="34" charset="-122"/>
                <a:cs typeface="Arial" pitchFamily="34" charset="-120"/>
              </a:rPr>
              <a:t>Can it reach our internal systems?</a:t>
            </a:r>
            <a:endParaRPr lang="en-US" sz="1350" dirty="0"/>
          </a:p>
        </p:txBody>
      </p:sp>
      <p:sp>
        <p:nvSpPr>
          <p:cNvPr id="7" name="Text 5"/>
          <p:cNvSpPr/>
          <p:nvPr/>
        </p:nvSpPr>
        <p:spPr>
          <a:xfrm>
            <a:off x="5257800" y="2011680"/>
            <a:ext cx="512064" cy="201168"/>
          </a:xfrm>
          <a:prstGeom prst="rect">
            <a:avLst/>
          </a:prstGeom>
          <a:noFill/>
          <a:ln/>
        </p:spPr>
        <p:txBody>
          <a:bodyPr wrap="square" lIns="0" tIns="0" rIns="0" bIns="0" rtlCol="0" anchor="t"/>
          <a:lstStyle/>
          <a:p>
            <a:pPr algn="r" indent="0" marL="0">
              <a:buNone/>
            </a:pPr>
            <a:r>
              <a:rPr lang="en-US" sz="900" b="1" dirty="0">
                <a:solidFill>
                  <a:srgbClr val="CBB78A"/>
                </a:solidFill>
                <a:latin typeface="Arial" pitchFamily="34" charset="0"/>
                <a:ea typeface="Arial" pitchFamily="34" charset="-122"/>
                <a:cs typeface="Arial" pitchFamily="34" charset="-120"/>
              </a:rPr>
              <a:t>F90</a:t>
            </a:r>
            <a:endParaRPr lang="en-US" sz="900" dirty="0"/>
          </a:p>
        </p:txBody>
      </p:sp>
      <p:sp>
        <p:nvSpPr>
          <p:cNvPr id="8" name="Text 6"/>
          <p:cNvSpPr/>
          <p:nvPr/>
        </p:nvSpPr>
        <p:spPr>
          <a:xfrm>
            <a:off x="822960" y="2340864"/>
            <a:ext cx="4892040" cy="877824"/>
          </a:xfrm>
          <a:prstGeom prst="rect">
            <a:avLst/>
          </a:prstGeom>
          <a:noFill/>
          <a:ln/>
        </p:spPr>
        <p:txBody>
          <a:bodyPr wrap="square" lIns="0" tIns="0" rIns="0" bIns="0" rtlCol="0" anchor="t"/>
          <a:lstStyle/>
          <a:p>
            <a:pPr indent="0" marL="0">
              <a:lnSpc>
                <a:spcPts val="1700"/>
              </a:lnSpc>
              <a:buNone/>
            </a:pPr>
            <a:r>
              <a:rPr lang="en-US" sz="1150" dirty="0">
                <a:solidFill>
                  <a:srgbClr val="A8A39B"/>
                </a:solidFill>
                <a:latin typeface="Arial" pitchFamily="34" charset="0"/>
                <a:ea typeface="Arial" pitchFamily="34" charset="-122"/>
                <a:cs typeface="Arial" pitchFamily="34" charset="-120"/>
              </a:rPr>
              <a:t>api_connector_tool makes approved external HTTP calls and is in the library. It is configured on zero workstreams today.</a:t>
            </a:r>
            <a:endParaRPr lang="en-US" sz="1150" dirty="0"/>
          </a:p>
        </p:txBody>
      </p:sp>
      <p:sp>
        <p:nvSpPr>
          <p:cNvPr id="9" name="Shape 7"/>
          <p:cNvSpPr/>
          <p:nvPr/>
        </p:nvSpPr>
        <p:spPr>
          <a:xfrm>
            <a:off x="6190488" y="1773936"/>
            <a:ext cx="5404104" cy="1572768"/>
          </a:xfrm>
          <a:prstGeom prst="roundRect">
            <a:avLst>
              <a:gd name="adj" fmla="val 3488"/>
            </a:avLst>
          </a:prstGeom>
          <a:solidFill>
            <a:srgbClr val="16161A"/>
          </a:solidFill>
          <a:ln w="9525">
            <a:solidFill>
              <a:srgbClr val="26262B"/>
            </a:solidFill>
            <a:prstDash val="solid"/>
          </a:ln>
        </p:spPr>
      </p:sp>
      <p:sp>
        <p:nvSpPr>
          <p:cNvPr id="10" name="Text 8"/>
          <p:cNvSpPr/>
          <p:nvPr/>
        </p:nvSpPr>
        <p:spPr>
          <a:xfrm>
            <a:off x="6446520" y="1993392"/>
            <a:ext cx="4581144" cy="274320"/>
          </a:xfrm>
          <a:prstGeom prst="rect">
            <a:avLst/>
          </a:prstGeom>
          <a:noFill/>
          <a:ln/>
        </p:spPr>
        <p:txBody>
          <a:bodyPr wrap="square" lIns="0" tIns="0" rIns="0" bIns="0" rtlCol="0" anchor="t"/>
          <a:lstStyle/>
          <a:p>
            <a:pPr indent="0" marL="0">
              <a:buNone/>
            </a:pPr>
            <a:r>
              <a:rPr lang="en-US" sz="1350" b="1" dirty="0">
                <a:solidFill>
                  <a:srgbClr val="EDEAE3"/>
                </a:solidFill>
                <a:latin typeface="Arial" pitchFamily="34" charset="0"/>
                <a:ea typeface="Arial" pitchFamily="34" charset="-122"/>
                <a:cs typeface="Arial" pitchFamily="34" charset="-120"/>
              </a:rPr>
              <a:t>What does it cost?</a:t>
            </a:r>
            <a:endParaRPr lang="en-US" sz="1350" dirty="0"/>
          </a:p>
        </p:txBody>
      </p:sp>
      <p:sp>
        <p:nvSpPr>
          <p:cNvPr id="11" name="Text 9"/>
          <p:cNvSpPr/>
          <p:nvPr/>
        </p:nvSpPr>
        <p:spPr>
          <a:xfrm>
            <a:off x="10881360" y="2011680"/>
            <a:ext cx="512064" cy="201168"/>
          </a:xfrm>
          <a:prstGeom prst="rect">
            <a:avLst/>
          </a:prstGeom>
          <a:noFill/>
          <a:ln/>
        </p:spPr>
        <p:txBody>
          <a:bodyPr wrap="square" lIns="0" tIns="0" rIns="0" bIns="0" rtlCol="0" anchor="t"/>
          <a:lstStyle/>
          <a:p>
            <a:pPr algn="r" indent="0" marL="0">
              <a:buNone/>
            </a:pPr>
            <a:r>
              <a:rPr lang="en-US" sz="900" b="1" dirty="0">
                <a:solidFill>
                  <a:srgbClr val="CBB78A"/>
                </a:solidFill>
                <a:latin typeface="Arial" pitchFamily="34" charset="0"/>
                <a:ea typeface="Arial" pitchFamily="34" charset="-122"/>
                <a:cs typeface="Arial" pitchFamily="34" charset="-120"/>
              </a:rPr>
              <a:t>F87</a:t>
            </a:r>
            <a:endParaRPr lang="en-US" sz="900" dirty="0"/>
          </a:p>
        </p:txBody>
      </p:sp>
      <p:sp>
        <p:nvSpPr>
          <p:cNvPr id="12" name="Text 10"/>
          <p:cNvSpPr/>
          <p:nvPr/>
        </p:nvSpPr>
        <p:spPr>
          <a:xfrm>
            <a:off x="6446520" y="2340864"/>
            <a:ext cx="4892040" cy="877824"/>
          </a:xfrm>
          <a:prstGeom prst="rect">
            <a:avLst/>
          </a:prstGeom>
          <a:noFill/>
          <a:ln/>
        </p:spPr>
        <p:txBody>
          <a:bodyPr wrap="square" lIns="0" tIns="0" rIns="0" bIns="0" rtlCol="0" anchor="t"/>
          <a:lstStyle/>
          <a:p>
            <a:pPr indent="0" marL="0">
              <a:lnSpc>
                <a:spcPts val="1700"/>
              </a:lnSpc>
              <a:buNone/>
            </a:pPr>
            <a:r>
              <a:rPr lang="en-US" sz="1150" dirty="0">
                <a:solidFill>
                  <a:srgbClr val="A8A39B"/>
                </a:solidFill>
                <a:latin typeface="Arial" pitchFamily="34" charset="0"/>
                <a:ea typeface="Arial" pitchFamily="34" charset="-122"/>
                <a:cs typeface="Arial" pitchFamily="34" charset="-120"/>
              </a:rPr>
              <a:t>Metered per workstream. The reference workstream: 6.8M tokens over 25 sessions, $21.97 estimated, broken down by model.</a:t>
            </a:r>
            <a:endParaRPr lang="en-US" sz="1150" dirty="0"/>
          </a:p>
        </p:txBody>
      </p:sp>
      <p:sp>
        <p:nvSpPr>
          <p:cNvPr id="13" name="Shape 11"/>
          <p:cNvSpPr/>
          <p:nvPr/>
        </p:nvSpPr>
        <p:spPr>
          <a:xfrm>
            <a:off x="566928" y="3566160"/>
            <a:ext cx="5404104" cy="1572768"/>
          </a:xfrm>
          <a:prstGeom prst="roundRect">
            <a:avLst>
              <a:gd name="adj" fmla="val 3488"/>
            </a:avLst>
          </a:prstGeom>
          <a:solidFill>
            <a:srgbClr val="16161A"/>
          </a:solidFill>
          <a:ln w="9525">
            <a:solidFill>
              <a:srgbClr val="26262B"/>
            </a:solidFill>
            <a:prstDash val="solid"/>
          </a:ln>
        </p:spPr>
      </p:sp>
      <p:sp>
        <p:nvSpPr>
          <p:cNvPr id="14" name="Text 12"/>
          <p:cNvSpPr/>
          <p:nvPr/>
        </p:nvSpPr>
        <p:spPr>
          <a:xfrm>
            <a:off x="822960" y="3785616"/>
            <a:ext cx="4581144" cy="274320"/>
          </a:xfrm>
          <a:prstGeom prst="rect">
            <a:avLst/>
          </a:prstGeom>
          <a:noFill/>
          <a:ln/>
        </p:spPr>
        <p:txBody>
          <a:bodyPr wrap="square" lIns="0" tIns="0" rIns="0" bIns="0" rtlCol="0" anchor="t"/>
          <a:lstStyle/>
          <a:p>
            <a:pPr indent="0" marL="0">
              <a:buNone/>
            </a:pPr>
            <a:r>
              <a:rPr lang="en-US" sz="1350" b="1" dirty="0">
                <a:solidFill>
                  <a:srgbClr val="EDEAE3"/>
                </a:solidFill>
                <a:latin typeface="Arial" pitchFamily="34" charset="0"/>
                <a:ea typeface="Arial" pitchFamily="34" charset="-122"/>
                <a:cs typeface="Arial" pitchFamily="34" charset="-120"/>
              </a:rPr>
              <a:t>Who can see my work?</a:t>
            </a:r>
            <a:endParaRPr lang="en-US" sz="1350" dirty="0"/>
          </a:p>
        </p:txBody>
      </p:sp>
      <p:sp>
        <p:nvSpPr>
          <p:cNvPr id="15" name="Text 13"/>
          <p:cNvSpPr/>
          <p:nvPr/>
        </p:nvSpPr>
        <p:spPr>
          <a:xfrm>
            <a:off x="5257800" y="3803904"/>
            <a:ext cx="512064" cy="201168"/>
          </a:xfrm>
          <a:prstGeom prst="rect">
            <a:avLst/>
          </a:prstGeom>
          <a:noFill/>
          <a:ln/>
        </p:spPr>
        <p:txBody>
          <a:bodyPr wrap="square" lIns="0" tIns="0" rIns="0" bIns="0" rtlCol="0" anchor="t"/>
          <a:lstStyle/>
          <a:p>
            <a:pPr algn="r" indent="0" marL="0">
              <a:buNone/>
            </a:pPr>
            <a:r>
              <a:rPr lang="en-US" sz="900" b="1" dirty="0">
                <a:solidFill>
                  <a:srgbClr val="CBB78A"/>
                </a:solidFill>
                <a:latin typeface="Arial" pitchFamily="34" charset="0"/>
                <a:ea typeface="Arial" pitchFamily="34" charset="-122"/>
                <a:cs typeface="Arial" pitchFamily="34" charset="-120"/>
              </a:rPr>
              <a:t>F57</a:t>
            </a:r>
            <a:endParaRPr lang="en-US" sz="900" dirty="0"/>
          </a:p>
        </p:txBody>
      </p:sp>
      <p:sp>
        <p:nvSpPr>
          <p:cNvPr id="16" name="Text 14"/>
          <p:cNvSpPr/>
          <p:nvPr/>
        </p:nvSpPr>
        <p:spPr>
          <a:xfrm>
            <a:off x="822960" y="4133088"/>
            <a:ext cx="4892040" cy="877824"/>
          </a:xfrm>
          <a:prstGeom prst="rect">
            <a:avLst/>
          </a:prstGeom>
          <a:noFill/>
          <a:ln/>
        </p:spPr>
        <p:txBody>
          <a:bodyPr wrap="square" lIns="0" tIns="0" rIns="0" bIns="0" rtlCol="0" anchor="t"/>
          <a:lstStyle/>
          <a:p>
            <a:pPr indent="0" marL="0">
              <a:lnSpc>
                <a:spcPts val="1700"/>
              </a:lnSpc>
              <a:buNone/>
            </a:pPr>
            <a:r>
              <a:rPr lang="en-US" sz="1150" dirty="0">
                <a:solidFill>
                  <a:srgbClr val="A8A39B"/>
                </a:solidFill>
                <a:latin typeface="Arial" pitchFamily="34" charset="0"/>
                <a:ea typeface="Arial" pitchFamily="34" charset="-122"/>
                <a:cs typeface="Arial" pitchFamily="34" charset="-120"/>
              </a:rPr>
              <a:t>A conversation is private to the people granted access. Separately, the workstream template is organisation-wide by default.</a:t>
            </a:r>
            <a:endParaRPr lang="en-US" sz="1150" dirty="0"/>
          </a:p>
        </p:txBody>
      </p:sp>
      <p:sp>
        <p:nvSpPr>
          <p:cNvPr id="17" name="Shape 15"/>
          <p:cNvSpPr/>
          <p:nvPr/>
        </p:nvSpPr>
        <p:spPr>
          <a:xfrm>
            <a:off x="6190488" y="3566160"/>
            <a:ext cx="5404104" cy="1572768"/>
          </a:xfrm>
          <a:prstGeom prst="roundRect">
            <a:avLst>
              <a:gd name="adj" fmla="val 3488"/>
            </a:avLst>
          </a:prstGeom>
          <a:solidFill>
            <a:srgbClr val="16161A"/>
          </a:solidFill>
          <a:ln w="9525">
            <a:solidFill>
              <a:srgbClr val="26262B"/>
            </a:solidFill>
            <a:prstDash val="solid"/>
          </a:ln>
        </p:spPr>
      </p:sp>
      <p:sp>
        <p:nvSpPr>
          <p:cNvPr id="18" name="Text 16"/>
          <p:cNvSpPr/>
          <p:nvPr/>
        </p:nvSpPr>
        <p:spPr>
          <a:xfrm>
            <a:off x="6446520" y="3785616"/>
            <a:ext cx="4581144" cy="274320"/>
          </a:xfrm>
          <a:prstGeom prst="rect">
            <a:avLst/>
          </a:prstGeom>
          <a:noFill/>
          <a:ln/>
        </p:spPr>
        <p:txBody>
          <a:bodyPr wrap="square" lIns="0" tIns="0" rIns="0" bIns="0" rtlCol="0" anchor="t"/>
          <a:lstStyle/>
          <a:p>
            <a:pPr indent="0" marL="0">
              <a:buNone/>
            </a:pPr>
            <a:r>
              <a:rPr lang="en-US" sz="1350" b="1" dirty="0">
                <a:solidFill>
                  <a:srgbClr val="EDEAE3"/>
                </a:solidFill>
                <a:latin typeface="Arial" pitchFamily="34" charset="0"/>
                <a:ea typeface="Arial" pitchFamily="34" charset="-122"/>
                <a:cs typeface="Arial" pitchFamily="34" charset="-120"/>
              </a:rPr>
              <a:t>Which model is it using?</a:t>
            </a:r>
            <a:endParaRPr lang="en-US" sz="1350" dirty="0"/>
          </a:p>
        </p:txBody>
      </p:sp>
      <p:sp>
        <p:nvSpPr>
          <p:cNvPr id="19" name="Text 17"/>
          <p:cNvSpPr/>
          <p:nvPr/>
        </p:nvSpPr>
        <p:spPr>
          <a:xfrm>
            <a:off x="10881360" y="3803904"/>
            <a:ext cx="512064" cy="201168"/>
          </a:xfrm>
          <a:prstGeom prst="rect">
            <a:avLst/>
          </a:prstGeom>
          <a:noFill/>
          <a:ln/>
        </p:spPr>
        <p:txBody>
          <a:bodyPr wrap="square" lIns="0" tIns="0" rIns="0" bIns="0" rtlCol="0" anchor="t"/>
          <a:lstStyle/>
          <a:p>
            <a:pPr algn="r" indent="0" marL="0">
              <a:buNone/>
            </a:pPr>
            <a:r>
              <a:rPr lang="en-US" sz="900" b="1" dirty="0">
                <a:solidFill>
                  <a:srgbClr val="CBB78A"/>
                </a:solidFill>
                <a:latin typeface="Arial" pitchFamily="34" charset="0"/>
                <a:ea typeface="Arial" pitchFamily="34" charset="-122"/>
                <a:cs typeface="Arial" pitchFamily="34" charset="-120"/>
              </a:rPr>
              <a:t>F86</a:t>
            </a:r>
            <a:endParaRPr lang="en-US" sz="900" dirty="0"/>
          </a:p>
        </p:txBody>
      </p:sp>
      <p:sp>
        <p:nvSpPr>
          <p:cNvPr id="20" name="Text 18"/>
          <p:cNvSpPr/>
          <p:nvPr/>
        </p:nvSpPr>
        <p:spPr>
          <a:xfrm>
            <a:off x="6446520" y="4133088"/>
            <a:ext cx="4892040" cy="877824"/>
          </a:xfrm>
          <a:prstGeom prst="rect">
            <a:avLst/>
          </a:prstGeom>
          <a:noFill/>
          <a:ln/>
        </p:spPr>
        <p:txBody>
          <a:bodyPr wrap="square" lIns="0" tIns="0" rIns="0" bIns="0" rtlCol="0" anchor="t"/>
          <a:lstStyle/>
          <a:p>
            <a:pPr indent="0" marL="0">
              <a:lnSpc>
                <a:spcPts val="1700"/>
              </a:lnSpc>
              <a:buNone/>
            </a:pPr>
            <a:r>
              <a:rPr lang="en-US" sz="1150" dirty="0">
                <a:solidFill>
                  <a:srgbClr val="A8A39B"/>
                </a:solidFill>
                <a:latin typeface="Arial" pitchFamily="34" charset="0"/>
                <a:ea typeface="Arial" pitchFamily="34" charset="-122"/>
                <a:cs typeface="Arial" pitchFamily="34" charset="-120"/>
              </a:rPr>
              <a:t>Chosen per workstream before anything is spent, limited to the four models the organisation has approved. An unapproved model is refused, not substituted.</a:t>
            </a:r>
            <a:endParaRPr lang="en-US" sz="1150" dirty="0"/>
          </a:p>
        </p:txBody>
      </p:sp>
      <p:sp>
        <p:nvSpPr>
          <p:cNvPr id="21" name="Shape 19"/>
          <p:cNvSpPr/>
          <p:nvPr/>
        </p:nvSpPr>
        <p:spPr>
          <a:xfrm>
            <a:off x="566928" y="6345936"/>
            <a:ext cx="11027664" cy="0"/>
          </a:xfrm>
          <a:prstGeom prst="line">
            <a:avLst/>
          </a:prstGeom>
          <a:noFill/>
          <a:ln w="9525">
            <a:solidFill>
              <a:srgbClr val="26262B"/>
            </a:solidFill>
            <a:prstDash val="solid"/>
          </a:ln>
        </p:spPr>
      </p:sp>
      <p:sp>
        <p:nvSpPr>
          <p:cNvPr id="22" name="Text 20"/>
          <p:cNvSpPr/>
          <p:nvPr/>
        </p:nvSpPr>
        <p:spPr>
          <a:xfrm>
            <a:off x="566928" y="6419088"/>
            <a:ext cx="6400800" cy="201168"/>
          </a:xfrm>
          <a:prstGeom prst="rect">
            <a:avLst/>
          </a:prstGeom>
          <a:noFill/>
          <a:ln/>
        </p:spPr>
        <p:txBody>
          <a:bodyPr wrap="square" lIns="0" tIns="0" rIns="0" bIns="0" rtlCol="0" anchor="t"/>
          <a:lstStyle/>
          <a:p>
            <a:pPr indent="0" marL="0">
              <a:buNone/>
            </a:pPr>
            <a:r>
              <a:rPr lang="en-US" sz="900" dirty="0">
                <a:solidFill>
                  <a:srgbClr val="75706A"/>
                </a:solidFill>
                <a:latin typeface="Arial" pitchFamily="34" charset="0"/>
                <a:ea typeface="Arial" pitchFamily="34" charset="-122"/>
                <a:cs typeface="Arial" pitchFamily="34" charset="-120"/>
              </a:rPr>
              <a:t>PXEngine  ·  demo cut  ·  12 minutes</a:t>
            </a:r>
            <a:endParaRPr lang="en-US" sz="900" dirty="0"/>
          </a:p>
        </p:txBody>
      </p:sp>
      <p:sp>
        <p:nvSpPr>
          <p:cNvPr id="23" name="Text 21"/>
          <p:cNvSpPr/>
          <p:nvPr/>
        </p:nvSpPr>
        <p:spPr>
          <a:xfrm>
            <a:off x="11045952" y="6419088"/>
            <a:ext cx="548640" cy="201168"/>
          </a:xfrm>
          <a:prstGeom prst="rect">
            <a:avLst/>
          </a:prstGeom>
          <a:noFill/>
          <a:ln/>
        </p:spPr>
        <p:txBody>
          <a:bodyPr wrap="square" lIns="0" tIns="0" rIns="0" bIns="0" rtlCol="0" anchor="t"/>
          <a:lstStyle/>
          <a:p>
            <a:pPr algn="r" indent="0" marL="0">
              <a:buNone/>
            </a:pPr>
            <a:r>
              <a:rPr lang="en-US" sz="900" dirty="0">
                <a:solidFill>
                  <a:srgbClr val="75706A"/>
                </a:solidFill>
                <a:latin typeface="Arial" pitchFamily="34" charset="0"/>
                <a:ea typeface="Arial" pitchFamily="34" charset="-122"/>
                <a:cs typeface="Arial"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0A0A"/>
        </a:solidFill>
      </p:bgPr>
    </p:bg>
    <p:spTree>
      <p:nvGrpSpPr>
        <p:cNvPr id="1" name=""/>
        <p:cNvGrpSpPr/>
        <p:nvPr/>
      </p:nvGrpSpPr>
      <p:grpSpPr>
        <a:xfrm>
          <a:off x="0" y="0"/>
          <a:ext cx="0" cy="0"/>
          <a:chOff x="0" y="0"/>
          <a:chExt cx="0" cy="0"/>
        </a:xfrm>
      </p:grpSpPr>
      <p:sp>
        <p:nvSpPr>
          <p:cNvPr id="2" name="Text 0"/>
          <p:cNvSpPr/>
          <p:nvPr/>
        </p:nvSpPr>
        <p:spPr>
          <a:xfrm>
            <a:off x="566928" y="365760"/>
            <a:ext cx="11027664" cy="182880"/>
          </a:xfrm>
          <a:prstGeom prst="rect">
            <a:avLst/>
          </a:prstGeom>
          <a:noFill/>
          <a:ln/>
        </p:spPr>
        <p:txBody>
          <a:bodyPr wrap="square" lIns="0" tIns="0" rIns="0" bIns="0" rtlCol="0" anchor="t"/>
          <a:lstStyle/>
          <a:p>
            <a:pPr indent="0" marL="0">
              <a:buNone/>
            </a:pPr>
            <a:r>
              <a:rPr lang="en-US" sz="1000" b="1" spc="220" kern="0" dirty="0">
                <a:solidFill>
                  <a:srgbClr val="CBB78A"/>
                </a:solidFill>
                <a:latin typeface="Arial" pitchFamily="34" charset="0"/>
                <a:ea typeface="Arial" pitchFamily="34" charset="-122"/>
                <a:cs typeface="Arial" pitchFamily="34" charset="-120"/>
              </a:rPr>
              <a:t>BEYOND THE CUT</a:t>
            </a:r>
            <a:endParaRPr lang="en-US" sz="1000" dirty="0"/>
          </a:p>
        </p:txBody>
      </p:sp>
      <p:sp>
        <p:nvSpPr>
          <p:cNvPr id="3" name="Text 1"/>
          <p:cNvSpPr/>
          <p:nvPr/>
        </p:nvSpPr>
        <p:spPr>
          <a:xfrm>
            <a:off x="566928" y="585216"/>
            <a:ext cx="11027664" cy="457200"/>
          </a:xfrm>
          <a:prstGeom prst="rect">
            <a:avLst/>
          </a:prstGeom>
          <a:noFill/>
          <a:ln/>
        </p:spPr>
        <p:txBody>
          <a:bodyPr wrap="square" lIns="0" tIns="0" rIns="0" bIns="0" rtlCol="0" anchor="t"/>
          <a:lstStyle/>
          <a:p>
            <a:pPr indent="0" marL="0">
              <a:buNone/>
            </a:pPr>
            <a:r>
              <a:rPr lang="en-US" sz="2600" b="1" dirty="0">
                <a:solidFill>
                  <a:srgbClr val="EDEAE3"/>
                </a:solidFill>
                <a:latin typeface="Arial" pitchFamily="34" charset="0"/>
                <a:ea typeface="Arial" pitchFamily="34" charset="-122"/>
                <a:cs typeface="Arial" pitchFamily="34" charset="-120"/>
              </a:rPr>
              <a:t>What this leaves out</a:t>
            </a:r>
            <a:endParaRPr lang="en-US" sz="2600" dirty="0"/>
          </a:p>
        </p:txBody>
      </p:sp>
      <p:sp>
        <p:nvSpPr>
          <p:cNvPr id="4" name="Text 2"/>
          <p:cNvSpPr/>
          <p:nvPr/>
        </p:nvSpPr>
        <p:spPr>
          <a:xfrm>
            <a:off x="566928" y="1097280"/>
            <a:ext cx="10661904" cy="292608"/>
          </a:xfrm>
          <a:prstGeom prst="rect">
            <a:avLst/>
          </a:prstGeom>
          <a:noFill/>
          <a:ln/>
        </p:spPr>
        <p:txBody>
          <a:bodyPr wrap="square" lIns="0" tIns="0" rIns="0" bIns="0" rtlCol="0" anchor="t"/>
          <a:lstStyle/>
          <a:p>
            <a:pPr indent="0" marL="0">
              <a:buNone/>
            </a:pPr>
            <a:r>
              <a:rPr lang="en-US" sz="1200" dirty="0">
                <a:solidFill>
                  <a:srgbClr val="A8A39B"/>
                </a:solidFill>
                <a:latin typeface="Arial" pitchFamily="34" charset="0"/>
                <a:ea typeface="Arial" pitchFamily="34" charset="-122"/>
                <a:cs typeface="Arial" pitchFamily="34" charset="-120"/>
              </a:rPr>
              <a:t>The cut is seven of nineteen steps. Nothing here is a summary of the whole product.</a:t>
            </a:r>
            <a:endParaRPr lang="en-US" sz="1200" dirty="0"/>
          </a:p>
        </p:txBody>
      </p:sp>
      <p:sp>
        <p:nvSpPr>
          <p:cNvPr id="5" name="Shape 3"/>
          <p:cNvSpPr/>
          <p:nvPr/>
        </p:nvSpPr>
        <p:spPr>
          <a:xfrm>
            <a:off x="566928" y="1773936"/>
            <a:ext cx="11027664" cy="896112"/>
          </a:xfrm>
          <a:prstGeom prst="roundRect">
            <a:avLst>
              <a:gd name="adj" fmla="val 6122"/>
            </a:avLst>
          </a:prstGeom>
          <a:solidFill>
            <a:srgbClr val="16161A"/>
          </a:solidFill>
          <a:ln w="9525">
            <a:solidFill>
              <a:srgbClr val="26262B"/>
            </a:solidFill>
            <a:prstDash val="solid"/>
          </a:ln>
        </p:spPr>
      </p:sp>
      <p:sp>
        <p:nvSpPr>
          <p:cNvPr id="6" name="Text 4"/>
          <p:cNvSpPr/>
          <p:nvPr/>
        </p:nvSpPr>
        <p:spPr>
          <a:xfrm>
            <a:off x="822960" y="2048256"/>
            <a:ext cx="1554480" cy="310896"/>
          </a:xfrm>
          <a:prstGeom prst="rect">
            <a:avLst/>
          </a:prstGeom>
          <a:noFill/>
          <a:ln/>
        </p:spPr>
        <p:txBody>
          <a:bodyPr wrap="square" lIns="0" tIns="0" rIns="0" bIns="0" rtlCol="0" anchor="t"/>
          <a:lstStyle/>
          <a:p>
            <a:pPr indent="0" marL="0">
              <a:buNone/>
            </a:pPr>
            <a:r>
              <a:rPr lang="en-US" sz="1500" b="1" dirty="0">
                <a:solidFill>
                  <a:srgbClr val="CBB78A"/>
                </a:solidFill>
                <a:latin typeface="Arial" pitchFamily="34" charset="0"/>
                <a:ea typeface="Arial" pitchFamily="34" charset="-122"/>
                <a:cs typeface="Arial" pitchFamily="34" charset="-120"/>
              </a:rPr>
              <a:t>19 steps</a:t>
            </a:r>
            <a:endParaRPr lang="en-US" sz="1500" dirty="0"/>
          </a:p>
        </p:txBody>
      </p:sp>
      <p:sp>
        <p:nvSpPr>
          <p:cNvPr id="7" name="Text 5"/>
          <p:cNvSpPr/>
          <p:nvPr/>
        </p:nvSpPr>
        <p:spPr>
          <a:xfrm>
            <a:off x="2487168" y="2066544"/>
            <a:ext cx="2377440" cy="274320"/>
          </a:xfrm>
          <a:prstGeom prst="rect">
            <a:avLst/>
          </a:prstGeom>
          <a:noFill/>
          <a:ln/>
        </p:spPr>
        <p:txBody>
          <a:bodyPr wrap="square" lIns="0" tIns="0" rIns="0" bIns="0" rtlCol="0" anchor="t"/>
          <a:lstStyle/>
          <a:p>
            <a:pPr indent="0" marL="0">
              <a:buNone/>
            </a:pPr>
            <a:r>
              <a:rPr lang="en-US" sz="1300" b="1" dirty="0">
                <a:solidFill>
                  <a:srgbClr val="EDEAE3"/>
                </a:solidFill>
                <a:latin typeface="Arial" pitchFamily="34" charset="0"/>
                <a:ea typeface="Arial" pitchFamily="34" charset="-122"/>
                <a:cs typeface="Arial" pitchFamily="34" charset="-120"/>
              </a:rPr>
              <a:t>Full demo path</a:t>
            </a:r>
            <a:endParaRPr lang="en-US" sz="1300" dirty="0"/>
          </a:p>
        </p:txBody>
      </p:sp>
      <p:sp>
        <p:nvSpPr>
          <p:cNvPr id="8" name="Text 6"/>
          <p:cNvSpPr/>
          <p:nvPr/>
        </p:nvSpPr>
        <p:spPr>
          <a:xfrm>
            <a:off x="5047488" y="2048256"/>
            <a:ext cx="6272784" cy="512064"/>
          </a:xfrm>
          <a:prstGeom prst="rect">
            <a:avLst/>
          </a:prstGeom>
          <a:noFill/>
          <a:ln/>
        </p:spPr>
        <p:txBody>
          <a:bodyPr wrap="square" lIns="0" tIns="0" rIns="0" bIns="0" rtlCol="0" anchor="t"/>
          <a:lstStyle/>
          <a:p>
            <a:pPr indent="0" marL="0">
              <a:lnSpc>
                <a:spcPts val="1700"/>
              </a:lnSpc>
              <a:buNone/>
            </a:pPr>
            <a:r>
              <a:rPr lang="en-US" sz="1150" dirty="0">
                <a:solidFill>
                  <a:srgbClr val="A8A39B"/>
                </a:solidFill>
                <a:latin typeface="Arial" pitchFamily="34" charset="0"/>
                <a:ea typeface="Arial" pitchFamily="34" charset="-122"/>
                <a:cs typeface="Arial" pitchFamily="34" charset="-120"/>
              </a:rPr>
              <a:t>Every documented step, with the screen and the controls for each. Product documentation, section 3.</a:t>
            </a:r>
            <a:endParaRPr lang="en-US" sz="1150" dirty="0"/>
          </a:p>
        </p:txBody>
      </p:sp>
      <p:sp>
        <p:nvSpPr>
          <p:cNvPr id="9" name="Shape 7"/>
          <p:cNvSpPr/>
          <p:nvPr/>
        </p:nvSpPr>
        <p:spPr>
          <a:xfrm>
            <a:off x="566928" y="2816352"/>
            <a:ext cx="11027664" cy="896112"/>
          </a:xfrm>
          <a:prstGeom prst="roundRect">
            <a:avLst>
              <a:gd name="adj" fmla="val 6122"/>
            </a:avLst>
          </a:prstGeom>
          <a:solidFill>
            <a:srgbClr val="16161A"/>
          </a:solidFill>
          <a:ln w="9525">
            <a:solidFill>
              <a:srgbClr val="26262B"/>
            </a:solidFill>
            <a:prstDash val="solid"/>
          </a:ln>
        </p:spPr>
      </p:sp>
      <p:sp>
        <p:nvSpPr>
          <p:cNvPr id="10" name="Text 8"/>
          <p:cNvSpPr/>
          <p:nvPr/>
        </p:nvSpPr>
        <p:spPr>
          <a:xfrm>
            <a:off x="822960" y="3090672"/>
            <a:ext cx="1554480" cy="310896"/>
          </a:xfrm>
          <a:prstGeom prst="rect">
            <a:avLst/>
          </a:prstGeom>
          <a:noFill/>
          <a:ln/>
        </p:spPr>
        <p:txBody>
          <a:bodyPr wrap="square" lIns="0" tIns="0" rIns="0" bIns="0" rtlCol="0" anchor="t"/>
          <a:lstStyle/>
          <a:p>
            <a:pPr indent="0" marL="0">
              <a:buNone/>
            </a:pPr>
            <a:r>
              <a:rPr lang="en-US" sz="1500" b="1" dirty="0">
                <a:solidFill>
                  <a:srgbClr val="CBB78A"/>
                </a:solidFill>
                <a:latin typeface="Arial" pitchFamily="34" charset="0"/>
                <a:ea typeface="Arial" pitchFamily="34" charset="-122"/>
                <a:cs typeface="Arial" pitchFamily="34" charset="-120"/>
              </a:rPr>
              <a:t>100 features</a:t>
            </a:r>
            <a:endParaRPr lang="en-US" sz="1500" dirty="0"/>
          </a:p>
        </p:txBody>
      </p:sp>
      <p:sp>
        <p:nvSpPr>
          <p:cNvPr id="11" name="Text 9"/>
          <p:cNvSpPr/>
          <p:nvPr/>
        </p:nvSpPr>
        <p:spPr>
          <a:xfrm>
            <a:off x="2487168" y="3108960"/>
            <a:ext cx="2377440" cy="274320"/>
          </a:xfrm>
          <a:prstGeom prst="rect">
            <a:avLst/>
          </a:prstGeom>
          <a:noFill/>
          <a:ln/>
        </p:spPr>
        <p:txBody>
          <a:bodyPr wrap="square" lIns="0" tIns="0" rIns="0" bIns="0" rtlCol="0" anchor="t"/>
          <a:lstStyle/>
          <a:p>
            <a:pPr indent="0" marL="0">
              <a:buNone/>
            </a:pPr>
            <a:r>
              <a:rPr lang="en-US" sz="1300" b="1" dirty="0">
                <a:solidFill>
                  <a:srgbClr val="EDEAE3"/>
                </a:solidFill>
                <a:latin typeface="Arial" pitchFamily="34" charset="0"/>
                <a:ea typeface="Arial" pitchFamily="34" charset="-122"/>
                <a:cs typeface="Arial" pitchFamily="34" charset="-120"/>
              </a:rPr>
              <a:t>Feature inventory</a:t>
            </a:r>
            <a:endParaRPr lang="en-US" sz="1300" dirty="0"/>
          </a:p>
        </p:txBody>
      </p:sp>
      <p:sp>
        <p:nvSpPr>
          <p:cNvPr id="12" name="Text 10"/>
          <p:cNvSpPr/>
          <p:nvPr/>
        </p:nvSpPr>
        <p:spPr>
          <a:xfrm>
            <a:off x="5047488" y="3090672"/>
            <a:ext cx="6272784" cy="512064"/>
          </a:xfrm>
          <a:prstGeom prst="rect">
            <a:avLst/>
          </a:prstGeom>
          <a:noFill/>
          <a:ln/>
        </p:spPr>
        <p:txBody>
          <a:bodyPr wrap="square" lIns="0" tIns="0" rIns="0" bIns="0" rtlCol="0" anchor="t"/>
          <a:lstStyle/>
          <a:p>
            <a:pPr indent="0" marL="0">
              <a:lnSpc>
                <a:spcPts val="1700"/>
              </a:lnSpc>
              <a:buNone/>
            </a:pPr>
            <a:r>
              <a:rPr lang="en-US" sz="1150" dirty="0">
                <a:solidFill>
                  <a:srgbClr val="A8A39B"/>
                </a:solidFill>
                <a:latin typeface="Arial" pitchFamily="34" charset="0"/>
                <a:ea typeface="Arial" pitchFamily="34" charset="-122"/>
                <a:cs typeface="Arial" pitchFamily="34" charset="-120"/>
              </a:rPr>
              <a:t>Everything the product does today, in eight functional areas, each with a stable identifier. Section 2.</a:t>
            </a:r>
            <a:endParaRPr lang="en-US" sz="1150" dirty="0"/>
          </a:p>
        </p:txBody>
      </p:sp>
      <p:sp>
        <p:nvSpPr>
          <p:cNvPr id="13" name="Shape 11"/>
          <p:cNvSpPr/>
          <p:nvPr/>
        </p:nvSpPr>
        <p:spPr>
          <a:xfrm>
            <a:off x="566928" y="3858768"/>
            <a:ext cx="11027664" cy="896112"/>
          </a:xfrm>
          <a:prstGeom prst="roundRect">
            <a:avLst>
              <a:gd name="adj" fmla="val 6122"/>
            </a:avLst>
          </a:prstGeom>
          <a:solidFill>
            <a:srgbClr val="16161A"/>
          </a:solidFill>
          <a:ln w="9525">
            <a:solidFill>
              <a:srgbClr val="26262B"/>
            </a:solidFill>
            <a:prstDash val="solid"/>
          </a:ln>
        </p:spPr>
      </p:sp>
      <p:sp>
        <p:nvSpPr>
          <p:cNvPr id="14" name="Text 12"/>
          <p:cNvSpPr/>
          <p:nvPr/>
        </p:nvSpPr>
        <p:spPr>
          <a:xfrm>
            <a:off x="822960" y="4133088"/>
            <a:ext cx="1554480" cy="310896"/>
          </a:xfrm>
          <a:prstGeom prst="rect">
            <a:avLst/>
          </a:prstGeom>
          <a:noFill/>
          <a:ln/>
        </p:spPr>
        <p:txBody>
          <a:bodyPr wrap="square" lIns="0" tIns="0" rIns="0" bIns="0" rtlCol="0" anchor="t"/>
          <a:lstStyle/>
          <a:p>
            <a:pPr indent="0" marL="0">
              <a:buNone/>
            </a:pPr>
            <a:r>
              <a:rPr lang="en-US" sz="1500" b="1" dirty="0">
                <a:solidFill>
                  <a:srgbClr val="CBB78A"/>
                </a:solidFill>
                <a:latin typeface="Arial" pitchFamily="34" charset="0"/>
                <a:ea typeface="Arial" pitchFamily="34" charset="-122"/>
                <a:cs typeface="Arial" pitchFamily="34" charset="-120"/>
              </a:rPr>
              <a:t>14 notes</a:t>
            </a:r>
            <a:endParaRPr lang="en-US" sz="1500" dirty="0"/>
          </a:p>
        </p:txBody>
      </p:sp>
      <p:sp>
        <p:nvSpPr>
          <p:cNvPr id="15" name="Text 13"/>
          <p:cNvSpPr/>
          <p:nvPr/>
        </p:nvSpPr>
        <p:spPr>
          <a:xfrm>
            <a:off x="2487168" y="4151376"/>
            <a:ext cx="2377440" cy="274320"/>
          </a:xfrm>
          <a:prstGeom prst="rect">
            <a:avLst/>
          </a:prstGeom>
          <a:noFill/>
          <a:ln/>
        </p:spPr>
        <p:txBody>
          <a:bodyPr wrap="square" lIns="0" tIns="0" rIns="0" bIns="0" rtlCol="0" anchor="t"/>
          <a:lstStyle/>
          <a:p>
            <a:pPr indent="0" marL="0">
              <a:buNone/>
            </a:pPr>
            <a:r>
              <a:rPr lang="en-US" sz="1300" b="1" dirty="0">
                <a:solidFill>
                  <a:srgbClr val="EDEAE3"/>
                </a:solidFill>
                <a:latin typeface="Arial" pitchFamily="34" charset="0"/>
                <a:ea typeface="Arial" pitchFamily="34" charset="-122"/>
                <a:cs typeface="Arial" pitchFamily="34" charset="-120"/>
              </a:rPr>
              <a:t>Documented behaviours</a:t>
            </a:r>
            <a:endParaRPr lang="en-US" sz="1300" dirty="0"/>
          </a:p>
        </p:txBody>
      </p:sp>
      <p:sp>
        <p:nvSpPr>
          <p:cNvPr id="16" name="Text 14"/>
          <p:cNvSpPr/>
          <p:nvPr/>
        </p:nvSpPr>
        <p:spPr>
          <a:xfrm>
            <a:off x="5047488" y="4133088"/>
            <a:ext cx="6272784" cy="512064"/>
          </a:xfrm>
          <a:prstGeom prst="rect">
            <a:avLst/>
          </a:prstGeom>
          <a:noFill/>
          <a:ln/>
        </p:spPr>
        <p:txBody>
          <a:bodyPr wrap="square" lIns="0" tIns="0" rIns="0" bIns="0" rtlCol="0" anchor="t"/>
          <a:lstStyle/>
          <a:p>
            <a:pPr indent="0" marL="0">
              <a:lnSpc>
                <a:spcPts val="1700"/>
              </a:lnSpc>
              <a:buNone/>
            </a:pPr>
            <a:r>
              <a:rPr lang="en-US" sz="1150" dirty="0">
                <a:solidFill>
                  <a:srgbClr val="A8A39B"/>
                </a:solidFill>
                <a:latin typeface="Arial" pitchFamily="34" charset="0"/>
                <a:ea typeface="Arial" pitchFamily="34" charset="-122"/>
                <a:cs typeface="Arial" pitchFamily="34" charset="-120"/>
              </a:rPr>
              <a:t>Behaviour that is observable but not self-evident from the interface. Appendix A.</a:t>
            </a:r>
            <a:endParaRPr lang="en-US" sz="1150" dirty="0"/>
          </a:p>
        </p:txBody>
      </p:sp>
      <p:sp>
        <p:nvSpPr>
          <p:cNvPr id="17" name="Shape 15"/>
          <p:cNvSpPr/>
          <p:nvPr/>
        </p:nvSpPr>
        <p:spPr>
          <a:xfrm>
            <a:off x="566928" y="4901184"/>
            <a:ext cx="11027664" cy="896112"/>
          </a:xfrm>
          <a:prstGeom prst="roundRect">
            <a:avLst>
              <a:gd name="adj" fmla="val 6122"/>
            </a:avLst>
          </a:prstGeom>
          <a:solidFill>
            <a:srgbClr val="16161A"/>
          </a:solidFill>
          <a:ln w="9525">
            <a:solidFill>
              <a:srgbClr val="26262B"/>
            </a:solidFill>
            <a:prstDash val="solid"/>
          </a:ln>
        </p:spPr>
      </p:sp>
      <p:sp>
        <p:nvSpPr>
          <p:cNvPr id="18" name="Text 16"/>
          <p:cNvSpPr/>
          <p:nvPr/>
        </p:nvSpPr>
        <p:spPr>
          <a:xfrm>
            <a:off x="822960" y="5175504"/>
            <a:ext cx="1554480" cy="310896"/>
          </a:xfrm>
          <a:prstGeom prst="rect">
            <a:avLst/>
          </a:prstGeom>
          <a:noFill/>
          <a:ln/>
        </p:spPr>
        <p:txBody>
          <a:bodyPr wrap="square" lIns="0" tIns="0" rIns="0" bIns="0" rtlCol="0" anchor="t"/>
          <a:lstStyle/>
          <a:p>
            <a:pPr indent="0" marL="0">
              <a:buNone/>
            </a:pPr>
            <a:r>
              <a:rPr lang="en-US" sz="1500" b="1" dirty="0">
                <a:solidFill>
                  <a:srgbClr val="CBB78A"/>
                </a:solidFill>
                <a:latin typeface="Arial" pitchFamily="34" charset="0"/>
                <a:ea typeface="Arial" pitchFamily="34" charset="-122"/>
                <a:cs typeface="Arial" pitchFamily="34" charset="-120"/>
              </a:rPr>
              <a:t>30 of 70</a:t>
            </a:r>
            <a:endParaRPr lang="en-US" sz="1500" dirty="0"/>
          </a:p>
        </p:txBody>
      </p:sp>
      <p:sp>
        <p:nvSpPr>
          <p:cNvPr id="19" name="Text 17"/>
          <p:cNvSpPr/>
          <p:nvPr/>
        </p:nvSpPr>
        <p:spPr>
          <a:xfrm>
            <a:off x="2487168" y="5193792"/>
            <a:ext cx="2377440" cy="274320"/>
          </a:xfrm>
          <a:prstGeom prst="rect">
            <a:avLst/>
          </a:prstGeom>
          <a:noFill/>
          <a:ln/>
        </p:spPr>
        <p:txBody>
          <a:bodyPr wrap="square" lIns="0" tIns="0" rIns="0" bIns="0" rtlCol="0" anchor="t"/>
          <a:lstStyle/>
          <a:p>
            <a:pPr indent="0" marL="0">
              <a:buNone/>
            </a:pPr>
            <a:r>
              <a:rPr lang="en-US" sz="1300" b="1" dirty="0">
                <a:solidFill>
                  <a:srgbClr val="EDEAE3"/>
                </a:solidFill>
                <a:latin typeface="Arial" pitchFamily="34" charset="0"/>
                <a:ea typeface="Arial" pitchFamily="34" charset="-122"/>
                <a:cs typeface="Arial" pitchFamily="34" charset="-120"/>
              </a:rPr>
              <a:t>Coverage of this cut</a:t>
            </a:r>
            <a:endParaRPr lang="en-US" sz="1300" dirty="0"/>
          </a:p>
        </p:txBody>
      </p:sp>
      <p:sp>
        <p:nvSpPr>
          <p:cNvPr id="20" name="Text 18"/>
          <p:cNvSpPr/>
          <p:nvPr/>
        </p:nvSpPr>
        <p:spPr>
          <a:xfrm>
            <a:off x="5047488" y="5175504"/>
            <a:ext cx="6272784" cy="512064"/>
          </a:xfrm>
          <a:prstGeom prst="rect">
            <a:avLst/>
          </a:prstGeom>
          <a:noFill/>
          <a:ln/>
        </p:spPr>
        <p:txBody>
          <a:bodyPr wrap="square" lIns="0" tIns="0" rIns="0" bIns="0" rtlCol="0" anchor="t"/>
          <a:lstStyle/>
          <a:p>
            <a:pPr indent="0" marL="0">
              <a:lnSpc>
                <a:spcPts val="1700"/>
              </a:lnSpc>
              <a:buNone/>
            </a:pPr>
            <a:r>
              <a:rPr lang="en-US" sz="1150" dirty="0">
                <a:solidFill>
                  <a:srgbClr val="A8A39B"/>
                </a:solidFill>
                <a:latin typeface="Arial" pitchFamily="34" charset="0"/>
                <a:ea typeface="Arial" pitchFamily="34" charset="-122"/>
                <a:cs typeface="Arial" pitchFamily="34" charset="-120"/>
              </a:rPr>
              <a:t>The seven stages reach 30 features. The full path reaches 70; the remaining 40 need the longer route. A further 30 of the 100 are documented but not on either path.</a:t>
            </a:r>
            <a:endParaRPr lang="en-US" sz="1150" dirty="0"/>
          </a:p>
        </p:txBody>
      </p:sp>
      <p:sp>
        <p:nvSpPr>
          <p:cNvPr id="21" name="Shape 19"/>
          <p:cNvSpPr/>
          <p:nvPr/>
        </p:nvSpPr>
        <p:spPr>
          <a:xfrm>
            <a:off x="566928" y="6345936"/>
            <a:ext cx="11027664" cy="0"/>
          </a:xfrm>
          <a:prstGeom prst="line">
            <a:avLst/>
          </a:prstGeom>
          <a:noFill/>
          <a:ln w="9525">
            <a:solidFill>
              <a:srgbClr val="26262B"/>
            </a:solidFill>
            <a:prstDash val="solid"/>
          </a:ln>
        </p:spPr>
      </p:sp>
      <p:sp>
        <p:nvSpPr>
          <p:cNvPr id="22" name="Text 20"/>
          <p:cNvSpPr/>
          <p:nvPr/>
        </p:nvSpPr>
        <p:spPr>
          <a:xfrm>
            <a:off x="566928" y="6419088"/>
            <a:ext cx="6400800" cy="201168"/>
          </a:xfrm>
          <a:prstGeom prst="rect">
            <a:avLst/>
          </a:prstGeom>
          <a:noFill/>
          <a:ln/>
        </p:spPr>
        <p:txBody>
          <a:bodyPr wrap="square" lIns="0" tIns="0" rIns="0" bIns="0" rtlCol="0" anchor="t"/>
          <a:lstStyle/>
          <a:p>
            <a:pPr indent="0" marL="0">
              <a:buNone/>
            </a:pPr>
            <a:r>
              <a:rPr lang="en-US" sz="900" dirty="0">
                <a:solidFill>
                  <a:srgbClr val="75706A"/>
                </a:solidFill>
                <a:latin typeface="Arial" pitchFamily="34" charset="0"/>
                <a:ea typeface="Arial" pitchFamily="34" charset="-122"/>
                <a:cs typeface="Arial" pitchFamily="34" charset="-120"/>
              </a:rPr>
              <a:t>PXEngine  ·  demo cut  ·  12 minutes</a:t>
            </a:r>
            <a:endParaRPr lang="en-US" sz="900" dirty="0"/>
          </a:p>
        </p:txBody>
      </p:sp>
      <p:sp>
        <p:nvSpPr>
          <p:cNvPr id="23" name="Text 21"/>
          <p:cNvSpPr/>
          <p:nvPr/>
        </p:nvSpPr>
        <p:spPr>
          <a:xfrm>
            <a:off x="11045952" y="6419088"/>
            <a:ext cx="548640" cy="201168"/>
          </a:xfrm>
          <a:prstGeom prst="rect">
            <a:avLst/>
          </a:prstGeom>
          <a:noFill/>
          <a:ln/>
        </p:spPr>
        <p:txBody>
          <a:bodyPr wrap="square" lIns="0" tIns="0" rIns="0" bIns="0" rtlCol="0" anchor="t"/>
          <a:lstStyle/>
          <a:p>
            <a:pPr algn="r" indent="0" marL="0">
              <a:buNone/>
            </a:pPr>
            <a:r>
              <a:rPr lang="en-US" sz="900" dirty="0">
                <a:solidFill>
                  <a:srgbClr val="75706A"/>
                </a:solidFill>
                <a:latin typeface="Arial" pitchFamily="34" charset="0"/>
                <a:ea typeface="Arial" pitchFamily="34" charset="-122"/>
                <a:cs typeface="Arial" pitchFamily="34" charset="-120"/>
              </a:rPr>
              <a:t>12</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PXEngine — Demo cut</dc:title>
  <dc:subject>Abbreviated demo path</dc:subject>
  <dc:creator>The Many</dc:creator>
  <cp:lastModifiedBy>The Many</cp:lastModifiedBy>
  <cp:revision>1</cp:revision>
  <dcterms:created xsi:type="dcterms:W3CDTF">2026-08-17T15:53:02Z</dcterms:created>
  <dcterms:modified xsi:type="dcterms:W3CDTF">2026-08-17T15:53:02Z</dcterms:modified>
</cp:coreProperties>
</file>